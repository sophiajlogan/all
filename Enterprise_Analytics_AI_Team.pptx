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13716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86000"/>
            <a:ext cx="10820095" cy="1371600"/>
          </a:xfrm>
          <a:prstGeom prst="rect">
            <a:avLst/>
          </a:prstGeom>
          <a:noFill/>
        </p:spPr>
        <p:txBody>
          <a:bodyPr wrap="none">
            <a:spAutoFit/>
          </a:bodyPr>
          <a:lstStyle/>
          <a:p>
            <a:pPr algn="l">
              <a:defRPr sz="5400" b="1">
                <a:solidFill>
                  <a:srgbClr val="FFFFFF"/>
                </a:solidFill>
              </a:defRPr>
            </a:pPr>
            <a:r>
              <a:t>Enterprise Analytics and AI</a:t>
            </a:r>
          </a:p>
        </p:txBody>
      </p:sp>
      <p:sp>
        <p:nvSpPr>
          <p:cNvPr id="5" name="TextBox 4"/>
          <p:cNvSpPr txBox="1"/>
          <p:nvPr/>
        </p:nvSpPr>
        <p:spPr>
          <a:xfrm>
            <a:off x="685800" y="3840480"/>
            <a:ext cx="10820095" cy="914400"/>
          </a:xfrm>
          <a:prstGeom prst="rect">
            <a:avLst/>
          </a:prstGeom>
          <a:noFill/>
        </p:spPr>
        <p:txBody>
          <a:bodyPr wrap="none">
            <a:spAutoFit/>
          </a:bodyPr>
          <a:lstStyle/>
          <a:p>
            <a:pPr algn="l">
              <a:defRPr sz="2800">
                <a:solidFill>
                  <a:srgbClr val="C8DCF0"/>
                </a:solidFill>
              </a:defRPr>
            </a:pPr>
            <a:r>
              <a:t>Your Partners in Data-Driven Development</a:t>
            </a:r>
          </a:p>
        </p:txBody>
      </p:sp>
      <p:sp>
        <p:nvSpPr>
          <p:cNvPr id="6" name="TextBox 5"/>
          <p:cNvSpPr txBox="1"/>
          <p:nvPr/>
        </p:nvSpPr>
        <p:spPr>
          <a:xfrm>
            <a:off x="685800" y="5303520"/>
            <a:ext cx="10820095" cy="914400"/>
          </a:xfrm>
          <a:prstGeom prst="rect">
            <a:avLst/>
          </a:prstGeom>
          <a:noFill/>
        </p:spPr>
        <p:txBody>
          <a:bodyPr wrap="none">
            <a:spAutoFit/>
          </a:bodyPr>
          <a:lstStyle/>
          <a:p>
            <a:pPr algn="l">
              <a:defRPr sz="1800" i="1">
                <a:solidFill>
                  <a:srgbClr val="B4C8DC"/>
                </a:solidFill>
              </a:defRPr>
            </a:pPr>
            <a:r>
              <a:t>Helping teams turn data into insights, and insights into action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spAutoFit/>
          </a:bodyPr>
          <a:lstStyle/>
          <a:p>
            <a:pPr algn="l">
              <a:defRPr sz="4400" b="1">
                <a:solidFill>
                  <a:srgbClr val="005293"/>
                </a:solidFill>
              </a:defRPr>
            </a:pPr>
            <a:r>
              <a:t>Who We Are</a:t>
            </a:r>
          </a:p>
        </p:txBody>
      </p:sp>
      <p:sp>
        <p:nvSpPr>
          <p:cNvPr id="3" name="TextBox 2"/>
          <p:cNvSpPr txBox="1"/>
          <p:nvPr/>
        </p:nvSpPr>
        <p:spPr>
          <a:xfrm>
            <a:off x="457200" y="1097280"/>
            <a:ext cx="10972800" cy="731520"/>
          </a:xfrm>
          <a:prstGeom prst="rect">
            <a:avLst/>
          </a:prstGeom>
          <a:noFill/>
        </p:spPr>
        <p:txBody>
          <a:bodyPr wrap="none">
            <a:spAutoFit/>
          </a:bodyPr>
          <a:lstStyle/>
          <a:p>
            <a:pPr>
              <a:defRPr sz="2400" i="1">
                <a:solidFill>
                  <a:srgbClr val="009688"/>
                </a:solidFill>
              </a:defRPr>
            </a:pPr>
            <a:r>
              <a:t>Think of us as your in-house technology translators</a:t>
            </a:r>
          </a:p>
        </p:txBody>
      </p:sp>
      <p:sp>
        <p:nvSpPr>
          <p:cNvPr id="4" name="Rounded Rectangle 3"/>
          <p:cNvSpPr/>
          <p:nvPr/>
        </p:nvSpPr>
        <p:spPr>
          <a:xfrm>
            <a:off x="457200" y="1828800"/>
            <a:ext cx="11277295" cy="2011680"/>
          </a:xfrm>
          <a:prstGeom prst="roundRect">
            <a:avLst/>
          </a:prstGeom>
          <a:solidFill>
            <a:srgbClr val="F0F8FF"/>
          </a:solidFill>
          <a:ln>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10789920" cy="1828800"/>
          </a:xfrm>
          <a:prstGeom prst="rect">
            <a:avLst/>
          </a:prstGeom>
          <a:noFill/>
        </p:spPr>
        <p:txBody>
          <a:bodyPr wrap="square">
            <a:spAutoFit/>
          </a:bodyPr>
          <a:lstStyle/>
          <a:p>
            <a:pPr>
              <a:spcAft>
                <a:spcPts val="1200"/>
              </a:spcAft>
              <a:defRPr sz="2000">
                <a:solidFill>
                  <a:srgbClr val="3C3C3C"/>
                </a:solidFill>
              </a:defRPr>
            </a:pPr>
            <a:r>
              <a:t>Imagine having a neighbor who could build you a custom website...</a:t>
            </a:r>
          </a:p>
          <a:p>
            <a:pPr>
              <a:spcAft>
                <a:spcPts val="1200"/>
              </a:spcAft>
              <a:defRPr sz="2000">
                <a:solidFill>
                  <a:srgbClr val="3C3C3C"/>
                </a:solidFill>
              </a:defRPr>
            </a:pPr>
            <a:r>
              <a:t>Now imagine that neighbor also knows how to build the systems that help Netflix figure out which movies to recommend to you, or how Amazon predicts what you might want to buy next.</a:t>
            </a:r>
          </a:p>
          <a:p>
            <a:pPr>
              <a:defRPr sz="2000" b="1">
                <a:solidFill>
                  <a:srgbClr val="005293"/>
                </a:solidFill>
              </a:defRPr>
            </a:pPr>
            <a:r>
              <a:t>That's us — technologists with computer science and data science backgrounds who specialize in finding patterns in data and building tools that make complex information useful.</a:t>
            </a:r>
          </a:p>
        </p:txBody>
      </p:sp>
      <p:sp>
        <p:nvSpPr>
          <p:cNvPr id="6" name="Rounded Rectangle 5"/>
          <p:cNvSpPr/>
          <p:nvPr/>
        </p:nvSpPr>
        <p:spPr>
          <a:xfrm>
            <a:off x="548640" y="4114800"/>
            <a:ext cx="3474720" cy="2286000"/>
          </a:xfrm>
          <a:prstGeom prst="roundRect">
            <a:avLst/>
          </a:prstGeom>
          <a:solidFill>
            <a:srgbClr val="005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97680"/>
            <a:ext cx="3108960" cy="2103120"/>
          </a:xfrm>
          <a:prstGeom prst="rect">
            <a:avLst/>
          </a:prstGeom>
          <a:noFill/>
        </p:spPr>
        <p:txBody>
          <a:bodyPr wrap="square">
            <a:spAutoFit/>
          </a:bodyPr>
          <a:lstStyle/>
          <a:p>
            <a:pPr>
              <a:spcAft>
                <a:spcPts val="800"/>
              </a:spcAft>
              <a:defRPr sz="2000" b="1">
                <a:solidFill>
                  <a:srgbClr val="FFFFFF"/>
                </a:solidFill>
              </a:defRPr>
            </a:pPr>
            <a:r>
              <a:t>🔧 We Build</a:t>
            </a:r>
          </a:p>
          <a:p>
            <a:pPr>
              <a:defRPr sz="1600">
                <a:solidFill>
                  <a:srgbClr val="FFFFFF"/>
                </a:solidFill>
              </a:defRPr>
            </a:pPr>
            <a:r>
              <a:t>Databases, dashboards, automated reports, forecasting models, and AI-powered tools</a:t>
            </a:r>
          </a:p>
        </p:txBody>
      </p:sp>
      <p:sp>
        <p:nvSpPr>
          <p:cNvPr id="8" name="Rounded Rectangle 7"/>
          <p:cNvSpPr/>
          <p:nvPr/>
        </p:nvSpPr>
        <p:spPr>
          <a:xfrm>
            <a:off x="4389120" y="4114800"/>
            <a:ext cx="3474720" cy="228600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4297680"/>
            <a:ext cx="3108960" cy="2103120"/>
          </a:xfrm>
          <a:prstGeom prst="rect">
            <a:avLst/>
          </a:prstGeom>
          <a:noFill/>
        </p:spPr>
        <p:txBody>
          <a:bodyPr wrap="square">
            <a:spAutoFit/>
          </a:bodyPr>
          <a:lstStyle/>
          <a:p>
            <a:pPr>
              <a:spcAft>
                <a:spcPts val="800"/>
              </a:spcAft>
              <a:defRPr sz="2000" b="1">
                <a:solidFill>
                  <a:srgbClr val="FFFFFF"/>
                </a:solidFill>
              </a:defRPr>
            </a:pPr>
            <a:r>
              <a:t>🔍 We Analyze</a:t>
            </a:r>
          </a:p>
          <a:p>
            <a:pPr>
              <a:defRPr sz="1600">
                <a:solidFill>
                  <a:srgbClr val="FFFFFF"/>
                </a:solidFill>
              </a:defRPr>
            </a:pPr>
            <a:r>
              <a:t>Find trends, spot patterns, predict outcomes, and turn messy data into clear answers</a:t>
            </a:r>
          </a:p>
        </p:txBody>
      </p:sp>
      <p:sp>
        <p:nvSpPr>
          <p:cNvPr id="10" name="Rounded Rectangle 9"/>
          <p:cNvSpPr/>
          <p:nvPr/>
        </p:nvSpPr>
        <p:spPr>
          <a:xfrm>
            <a:off x="8229600" y="4114800"/>
            <a:ext cx="3474720" cy="228600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4297680"/>
            <a:ext cx="3108960" cy="2103120"/>
          </a:xfrm>
          <a:prstGeom prst="rect">
            <a:avLst/>
          </a:prstGeom>
          <a:noFill/>
        </p:spPr>
        <p:txBody>
          <a:bodyPr wrap="square">
            <a:spAutoFit/>
          </a:bodyPr>
          <a:lstStyle/>
          <a:p>
            <a:pPr>
              <a:spcAft>
                <a:spcPts val="800"/>
              </a:spcAft>
              <a:defRPr sz="2000" b="1">
                <a:solidFill>
                  <a:srgbClr val="FFFFFF"/>
                </a:solidFill>
              </a:defRPr>
            </a:pPr>
            <a:r>
              <a:t>🤝 We Partner</a:t>
            </a:r>
          </a:p>
          <a:p>
            <a:pPr>
              <a:defRPr sz="1600">
                <a:solidFill>
                  <a:srgbClr val="FFFFFF"/>
                </a:solidFill>
              </a:defRPr>
            </a:pPr>
            <a:r>
              <a:t>Work alongside you to understand your challenges and create solutions that actually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914400"/>
          </a:xfrm>
          <a:prstGeom prst="rect">
            <a:avLst/>
          </a:prstGeom>
          <a:noFill/>
        </p:spPr>
        <p:txBody>
          <a:bodyPr wrap="square">
            <a:spAutoFit/>
          </a:bodyPr>
          <a:lstStyle/>
          <a:p>
            <a:pPr algn="l">
              <a:defRPr sz="4400" b="1">
                <a:solidFill>
                  <a:srgbClr val="005293"/>
                </a:solidFill>
              </a:defRPr>
            </a:pPr>
            <a:r>
              <a:t>How We Work With You</a:t>
            </a:r>
          </a:p>
        </p:txBody>
      </p:sp>
      <p:sp>
        <p:nvSpPr>
          <p:cNvPr id="3" name="TextBox 2"/>
          <p:cNvSpPr txBox="1"/>
          <p:nvPr/>
        </p:nvSpPr>
        <p:spPr>
          <a:xfrm>
            <a:off x="457200" y="1005840"/>
            <a:ext cx="10972800" cy="548640"/>
          </a:xfrm>
          <a:prstGeom prst="rect">
            <a:avLst/>
          </a:prstGeom>
          <a:noFill/>
        </p:spPr>
        <p:txBody>
          <a:bodyPr wrap="none">
            <a:spAutoFit/>
          </a:bodyPr>
          <a:lstStyle/>
          <a:p>
            <a:pPr>
              <a:defRPr sz="1800">
                <a:solidFill>
                  <a:srgbClr val="3C3C3C"/>
                </a:solidFill>
              </a:defRPr>
            </a:pPr>
            <a:r>
              <a:t>We're a shared resource that amplifies your team's capabilities — not a replacement</a:t>
            </a:r>
          </a:p>
        </p:txBody>
      </p:sp>
      <p:sp>
        <p:nvSpPr>
          <p:cNvPr id="4" name="Oval 3"/>
          <p:cNvSpPr/>
          <p:nvPr/>
        </p:nvSpPr>
        <p:spPr>
          <a:xfrm>
            <a:off x="5089550" y="2651760"/>
            <a:ext cx="2011680" cy="2011680"/>
          </a:xfrm>
          <a:prstGeom prst="ellipse">
            <a:avLst/>
          </a:prstGeom>
          <a:solidFill>
            <a:srgbClr val="005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26710" y="3291840"/>
            <a:ext cx="1737360" cy="731520"/>
          </a:xfrm>
          <a:prstGeom prst="rect">
            <a:avLst/>
          </a:prstGeom>
          <a:noFill/>
        </p:spPr>
        <p:txBody>
          <a:bodyPr wrap="square">
            <a:spAutoFit/>
          </a:bodyPr>
          <a:lstStyle/>
          <a:p>
            <a:pPr algn="ctr">
              <a:defRPr sz="1400" b="1">
                <a:solidFill>
                  <a:srgbClr val="FFFFFF"/>
                </a:solidFill>
              </a:defRPr>
            </a:pPr>
            <a:r>
              <a:t>Enterprise Analytics &amp; AI</a:t>
            </a:r>
          </a:p>
        </p:txBody>
      </p:sp>
      <p:cxnSp>
        <p:nvCxnSpPr>
          <p:cNvPr id="6" name="Connector 5"/>
          <p:cNvCxnSpPr/>
          <p:nvPr/>
        </p:nvCxnSpPr>
        <p:spPr>
          <a:xfrm>
            <a:off x="2971800.0" y="2514600.0"/>
            <a:ext cx="3123590.0" cy="1143000.0"/>
          </a:xfrm>
          <a:prstGeom prst="line">
            <a:avLst/>
          </a:prstGeom>
          <a:ln w="25400">
            <a:solidFill>
              <a:srgbClr val="B4C8DC"/>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86000" y="1828800"/>
            <a:ext cx="1371600" cy="13716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0" y="2240280"/>
            <a:ext cx="1188720" cy="548640"/>
          </a:xfrm>
          <a:prstGeom prst="rect">
            <a:avLst/>
          </a:prstGeom>
          <a:noFill/>
        </p:spPr>
        <p:txBody>
          <a:bodyPr wrap="square">
            <a:spAutoFit/>
          </a:bodyPr>
          <a:lstStyle/>
          <a:p>
            <a:pPr algn="ctr">
              <a:defRPr sz="1200" b="1">
                <a:solidFill>
                  <a:srgbClr val="FFFFFF"/>
                </a:solidFill>
              </a:defRPr>
            </a:pPr>
            <a:r>
              <a:t>Land</a:t>
            </a:r>
            <a:br/>
            <a:r>
              <a:t>Acquisition</a:t>
            </a:r>
          </a:p>
        </p:txBody>
      </p:sp>
      <p:cxnSp>
        <p:nvCxnSpPr>
          <p:cNvPr id="9" name="Connector 8"/>
          <p:cNvCxnSpPr/>
          <p:nvPr/>
        </p:nvCxnSpPr>
        <p:spPr>
          <a:xfrm flipH="1">
            <a:off x="6095390" y="2514600.0"/>
            <a:ext cx="3734410.0" cy="1143000.0"/>
          </a:xfrm>
          <a:prstGeom prst="line">
            <a:avLst/>
          </a:prstGeom>
          <a:ln w="25400">
            <a:solidFill>
              <a:srgbClr val="B4C8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144000" y="1828800"/>
            <a:ext cx="1371600" cy="13716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240280"/>
            <a:ext cx="1188720" cy="548640"/>
          </a:xfrm>
          <a:prstGeom prst="rect">
            <a:avLst/>
          </a:prstGeom>
          <a:noFill/>
        </p:spPr>
        <p:txBody>
          <a:bodyPr wrap="square">
            <a:spAutoFit/>
          </a:bodyPr>
          <a:lstStyle/>
          <a:p>
            <a:pPr algn="ctr">
              <a:defRPr sz="1200" b="1">
                <a:solidFill>
                  <a:srgbClr val="FFFFFF"/>
                </a:solidFill>
              </a:defRPr>
            </a:pPr>
            <a:r>
              <a:t>Permitting</a:t>
            </a:r>
          </a:p>
        </p:txBody>
      </p:sp>
      <p:cxnSp>
        <p:nvCxnSpPr>
          <p:cNvPr id="12" name="Connector 11"/>
          <p:cNvCxnSpPr/>
          <p:nvPr/>
        </p:nvCxnSpPr>
        <p:spPr>
          <a:xfrm flipH="1" flipV="1">
            <a:off x="6095390" y="3657600"/>
            <a:ext cx="4191610.0" cy="1600200.0"/>
          </a:xfrm>
          <a:prstGeom prst="line">
            <a:avLst/>
          </a:prstGeom>
          <a:ln w="25400">
            <a:solidFill>
              <a:srgbClr val="B4C8DC"/>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601200" y="4572000"/>
            <a:ext cx="1371600" cy="13716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0" y="4983480"/>
            <a:ext cx="1188720" cy="548640"/>
          </a:xfrm>
          <a:prstGeom prst="rect">
            <a:avLst/>
          </a:prstGeom>
          <a:noFill/>
        </p:spPr>
        <p:txBody>
          <a:bodyPr wrap="square">
            <a:spAutoFit/>
          </a:bodyPr>
          <a:lstStyle/>
          <a:p>
            <a:pPr algn="ctr">
              <a:defRPr sz="1200" b="1">
                <a:solidFill>
                  <a:srgbClr val="FFFFFF"/>
                </a:solidFill>
              </a:defRPr>
            </a:pPr>
            <a:r>
              <a:t>Engineering</a:t>
            </a:r>
          </a:p>
        </p:txBody>
      </p:sp>
      <p:cxnSp>
        <p:nvCxnSpPr>
          <p:cNvPr id="15" name="Connector 14"/>
          <p:cNvCxnSpPr/>
          <p:nvPr/>
        </p:nvCxnSpPr>
        <p:spPr>
          <a:xfrm flipV="1">
            <a:off x="2514600.0" y="3657600"/>
            <a:ext cx="3580790.0" cy="1783080.0"/>
          </a:xfrm>
          <a:prstGeom prst="line">
            <a:avLst/>
          </a:prstGeom>
          <a:ln w="25400">
            <a:solidFill>
              <a:srgbClr val="B4C8DC"/>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828800" y="4754880"/>
            <a:ext cx="1371600" cy="13716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20240" y="5166360"/>
            <a:ext cx="1188720" cy="548640"/>
          </a:xfrm>
          <a:prstGeom prst="rect">
            <a:avLst/>
          </a:prstGeom>
          <a:noFill/>
        </p:spPr>
        <p:txBody>
          <a:bodyPr wrap="square">
            <a:spAutoFit/>
          </a:bodyPr>
          <a:lstStyle/>
          <a:p>
            <a:pPr algn="ctr">
              <a:defRPr sz="1200" b="1">
                <a:solidFill>
                  <a:srgbClr val="FFFFFF"/>
                </a:solidFill>
              </a:defRPr>
            </a:pPr>
            <a:r>
              <a:t>Finance</a:t>
            </a:r>
          </a:p>
        </p:txBody>
      </p:sp>
      <p:cxnSp>
        <p:nvCxnSpPr>
          <p:cNvPr id="18" name="Connector 17"/>
          <p:cNvCxnSpPr/>
          <p:nvPr/>
        </p:nvCxnSpPr>
        <p:spPr>
          <a:xfrm flipV="1">
            <a:off x="5715000.0" y="3657600"/>
            <a:ext cx="380390.0" cy="2788920.0"/>
          </a:xfrm>
          <a:prstGeom prst="line">
            <a:avLst/>
          </a:prstGeom>
          <a:ln w="25400">
            <a:solidFill>
              <a:srgbClr val="B4C8DC"/>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029200" y="5760720"/>
            <a:ext cx="1371600" cy="13716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6172200"/>
            <a:ext cx="1188720" cy="548640"/>
          </a:xfrm>
          <a:prstGeom prst="rect">
            <a:avLst/>
          </a:prstGeom>
          <a:noFill/>
        </p:spPr>
        <p:txBody>
          <a:bodyPr wrap="square">
            <a:spAutoFit/>
          </a:bodyPr>
          <a:lstStyle/>
          <a:p>
            <a:pPr algn="ctr">
              <a:defRPr sz="1200" b="1">
                <a:solidFill>
                  <a:srgbClr val="FFFFFF"/>
                </a:solidFill>
              </a:defRPr>
            </a:pPr>
            <a:r>
              <a:t>Legal</a:t>
            </a:r>
          </a:p>
        </p:txBody>
      </p:sp>
      <p:cxnSp>
        <p:nvCxnSpPr>
          <p:cNvPr id="21" name="Connector 20"/>
          <p:cNvCxnSpPr/>
          <p:nvPr/>
        </p:nvCxnSpPr>
        <p:spPr>
          <a:xfrm flipH="1" flipV="1">
            <a:off x="6095390" y="3657600"/>
            <a:ext cx="1448410.0" cy="2788920.0"/>
          </a:xfrm>
          <a:prstGeom prst="line">
            <a:avLst/>
          </a:prstGeom>
          <a:ln w="25400">
            <a:solidFill>
              <a:srgbClr val="B4C8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858000" y="5760720"/>
            <a:ext cx="1371600" cy="13716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0" y="6172200"/>
            <a:ext cx="1188720" cy="548640"/>
          </a:xfrm>
          <a:prstGeom prst="rect">
            <a:avLst/>
          </a:prstGeom>
          <a:noFill/>
        </p:spPr>
        <p:txBody>
          <a:bodyPr wrap="square">
            <a:spAutoFit/>
          </a:bodyPr>
          <a:lstStyle/>
          <a:p>
            <a:pPr algn="ctr">
              <a:defRPr sz="1200" b="1">
                <a:solidFill>
                  <a:srgbClr val="FFFFFF"/>
                </a:solidFill>
              </a:defRPr>
            </a:pPr>
            <a:r>
              <a:t>Operations</a:t>
            </a:r>
          </a:p>
        </p:txBody>
      </p:sp>
      <p:sp>
        <p:nvSpPr>
          <p:cNvPr id="24" name="Rounded Rectangle 23"/>
          <p:cNvSpPr/>
          <p:nvPr/>
        </p:nvSpPr>
        <p:spPr>
          <a:xfrm>
            <a:off x="457200" y="1463040"/>
            <a:ext cx="3474720" cy="822960"/>
          </a:xfrm>
          <a:prstGeom prst="roundRect">
            <a:avLst/>
          </a:prstGeom>
          <a:solidFill>
            <a:srgbClr val="E8F5E9"/>
          </a:solidFill>
          <a:ln>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1600200"/>
            <a:ext cx="3108960" cy="640080"/>
          </a:xfrm>
          <a:prstGeom prst="rect">
            <a:avLst/>
          </a:prstGeom>
          <a:noFill/>
        </p:spPr>
        <p:txBody>
          <a:bodyPr wrap="square">
            <a:spAutoFit/>
          </a:bodyPr>
          <a:lstStyle/>
          <a:p>
            <a:pPr>
              <a:defRPr sz="1400">
                <a:solidFill>
                  <a:srgbClr val="3C3C3C"/>
                </a:solidFill>
              </a:defRPr>
            </a:pPr>
            <a:r>
              <a:t>✓ You keep your domain expertise</a:t>
            </a:r>
          </a:p>
        </p:txBody>
      </p:sp>
      <p:sp>
        <p:nvSpPr>
          <p:cNvPr id="26" name="Rounded Rectangle 25"/>
          <p:cNvSpPr/>
          <p:nvPr/>
        </p:nvSpPr>
        <p:spPr>
          <a:xfrm>
            <a:off x="4114800" y="1463040"/>
            <a:ext cx="3474720" cy="822960"/>
          </a:xfrm>
          <a:prstGeom prst="roundRect">
            <a:avLst/>
          </a:prstGeom>
          <a:solidFill>
            <a:srgbClr val="E8F5E9"/>
          </a:solidFill>
          <a:ln>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1600200"/>
            <a:ext cx="3108960" cy="640080"/>
          </a:xfrm>
          <a:prstGeom prst="rect">
            <a:avLst/>
          </a:prstGeom>
          <a:noFill/>
        </p:spPr>
        <p:txBody>
          <a:bodyPr wrap="square">
            <a:spAutoFit/>
          </a:bodyPr>
          <a:lstStyle/>
          <a:p>
            <a:pPr>
              <a:defRPr sz="1400">
                <a:solidFill>
                  <a:srgbClr val="3C3C3C"/>
                </a:solidFill>
              </a:defRPr>
            </a:pPr>
            <a:r>
              <a:t>✓ We bring technology skills</a:t>
            </a:r>
          </a:p>
        </p:txBody>
      </p:sp>
      <p:sp>
        <p:nvSpPr>
          <p:cNvPr id="28" name="Rounded Rectangle 27"/>
          <p:cNvSpPr/>
          <p:nvPr/>
        </p:nvSpPr>
        <p:spPr>
          <a:xfrm>
            <a:off x="7772400" y="1463040"/>
            <a:ext cx="3931920" cy="822960"/>
          </a:xfrm>
          <a:prstGeom prst="roundRect">
            <a:avLst/>
          </a:prstGeom>
          <a:solidFill>
            <a:srgbClr val="E8F5E9"/>
          </a:solidFill>
          <a:ln>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79" y="1600200"/>
            <a:ext cx="3566160" cy="640080"/>
          </a:xfrm>
          <a:prstGeom prst="rect">
            <a:avLst/>
          </a:prstGeom>
          <a:noFill/>
        </p:spPr>
        <p:txBody>
          <a:bodyPr wrap="square">
            <a:spAutoFit/>
          </a:bodyPr>
          <a:lstStyle/>
          <a:p>
            <a:pPr>
              <a:defRPr sz="1400">
                <a:solidFill>
                  <a:srgbClr val="3C3C3C"/>
                </a:solidFill>
              </a:defRPr>
            </a:pPr>
            <a:r>
              <a:t>✓ Together we build cross-team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914400"/>
          </a:xfrm>
          <a:prstGeom prst="rect">
            <a:avLst/>
          </a:prstGeom>
          <a:noFill/>
        </p:spPr>
        <p:txBody>
          <a:bodyPr wrap="square">
            <a:spAutoFit/>
          </a:bodyPr>
          <a:lstStyle/>
          <a:p>
            <a:pPr algn="l">
              <a:defRPr sz="4400" b="1">
                <a:solidFill>
                  <a:srgbClr val="005293"/>
                </a:solidFill>
              </a:defRPr>
            </a:pPr>
            <a:r>
              <a:t>We're Like Internal Consultants</a:t>
            </a:r>
          </a:p>
        </p:txBody>
      </p:sp>
      <p:sp>
        <p:nvSpPr>
          <p:cNvPr id="3" name="TextBox 2"/>
          <p:cNvSpPr txBox="1"/>
          <p:nvPr/>
        </p:nvSpPr>
        <p:spPr>
          <a:xfrm>
            <a:off x="457200" y="1005840"/>
            <a:ext cx="10972800" cy="548640"/>
          </a:xfrm>
          <a:prstGeom prst="rect">
            <a:avLst/>
          </a:prstGeom>
          <a:noFill/>
        </p:spPr>
        <p:txBody>
          <a:bodyPr wrap="none">
            <a:spAutoFit/>
          </a:bodyPr>
          <a:lstStyle/>
          <a:p>
            <a:pPr>
              <a:defRPr sz="2000" i="1">
                <a:solidFill>
                  <a:srgbClr val="009688"/>
                </a:solidFill>
              </a:defRPr>
            </a:pPr>
            <a:r>
              <a:t>You're the expert in your work. We're experts in building technology to support it.</a:t>
            </a:r>
          </a:p>
        </p:txBody>
      </p:sp>
      <p:sp>
        <p:nvSpPr>
          <p:cNvPr id="4" name="Rounded Rectangle 3"/>
          <p:cNvSpPr/>
          <p:nvPr/>
        </p:nvSpPr>
        <p:spPr>
          <a:xfrm>
            <a:off x="457200" y="1737360"/>
            <a:ext cx="5029200" cy="6400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4663440" cy="457200"/>
          </a:xfrm>
          <a:prstGeom prst="rect">
            <a:avLst/>
          </a:prstGeom>
          <a:noFill/>
        </p:spPr>
        <p:txBody>
          <a:bodyPr wrap="none">
            <a:spAutoFit/>
          </a:bodyPr>
          <a:lstStyle/>
          <a:p>
            <a:pPr algn="ctr">
              <a:defRPr sz="2200" b="1">
                <a:solidFill>
                  <a:srgbClr val="FFFFFF"/>
                </a:solidFill>
              </a:defRPr>
            </a:pPr>
            <a:r>
              <a:t>What You Bring</a:t>
            </a:r>
          </a:p>
        </p:txBody>
      </p:sp>
      <p:sp>
        <p:nvSpPr>
          <p:cNvPr id="6" name="Rounded Rectangle 5"/>
          <p:cNvSpPr/>
          <p:nvPr/>
        </p:nvSpPr>
        <p:spPr>
          <a:xfrm>
            <a:off x="457200" y="2377440"/>
            <a:ext cx="5029200" cy="2560320"/>
          </a:xfrm>
          <a:prstGeom prst="roundRect">
            <a:avLst/>
          </a:prstGeom>
          <a:solidFill>
            <a:srgbClr val="F0F8F5"/>
          </a:solidFill>
          <a:ln>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560320"/>
            <a:ext cx="4663440" cy="2286000"/>
          </a:xfrm>
          <a:prstGeom prst="rect">
            <a:avLst/>
          </a:prstGeom>
          <a:noFill/>
        </p:spPr>
        <p:txBody>
          <a:bodyPr wrap="square">
            <a:spAutoFit/>
          </a:bodyPr>
          <a:lstStyle/>
          <a:p>
            <a:pPr>
              <a:spcAft>
                <a:spcPts val="800"/>
              </a:spcAft>
              <a:defRPr sz="1500">
                <a:solidFill>
                  <a:srgbClr val="3C3C3C"/>
                </a:solidFill>
              </a:defRPr>
            </a:pPr>
            <a:r>
              <a:t>• Deep knowledge of land acquisition, permitting, or your specialty</a:t>
            </a:r>
          </a:p>
          <a:p>
            <a:pPr>
              <a:spcAft>
                <a:spcPts val="800"/>
              </a:spcAft>
              <a:defRPr sz="1500">
                <a:solidFill>
                  <a:srgbClr val="3C3C3C"/>
                </a:solidFill>
              </a:defRPr>
            </a:pPr>
            <a:r>
              <a:t>• Understanding of what questions need answers</a:t>
            </a:r>
          </a:p>
          <a:p>
            <a:pPr>
              <a:spcAft>
                <a:spcPts val="800"/>
              </a:spcAft>
              <a:defRPr sz="1500">
                <a:solidFill>
                  <a:srgbClr val="3C3C3C"/>
                </a:solidFill>
              </a:defRPr>
            </a:pPr>
            <a:r>
              <a:t>• Relationships with landowners, agencies, stakeholders</a:t>
            </a:r>
          </a:p>
          <a:p>
            <a:pPr>
              <a:spcAft>
                <a:spcPts val="800"/>
              </a:spcAft>
              <a:defRPr sz="1500">
                <a:solidFill>
                  <a:srgbClr val="3C3C3C"/>
                </a:solidFill>
              </a:defRPr>
            </a:pPr>
            <a:r>
              <a:t>• Experience navigating complex project requirements</a:t>
            </a:r>
          </a:p>
        </p:txBody>
      </p:sp>
      <p:sp>
        <p:nvSpPr>
          <p:cNvPr id="8" name="Rounded Rectangle 7"/>
          <p:cNvSpPr/>
          <p:nvPr/>
        </p:nvSpPr>
        <p:spPr>
          <a:xfrm>
            <a:off x="5943600" y="1737360"/>
            <a:ext cx="5760720" cy="640080"/>
          </a:xfrm>
          <a:prstGeom prst="roundRect">
            <a:avLst/>
          </a:prstGeom>
          <a:solidFill>
            <a:srgbClr val="005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828800"/>
            <a:ext cx="5394960" cy="457200"/>
          </a:xfrm>
          <a:prstGeom prst="rect">
            <a:avLst/>
          </a:prstGeom>
          <a:noFill/>
        </p:spPr>
        <p:txBody>
          <a:bodyPr wrap="none">
            <a:spAutoFit/>
          </a:bodyPr>
          <a:lstStyle/>
          <a:p>
            <a:pPr algn="ctr">
              <a:defRPr sz="2200" b="1">
                <a:solidFill>
                  <a:srgbClr val="FFFFFF"/>
                </a:solidFill>
              </a:defRPr>
            </a:pPr>
            <a:r>
              <a:t>What We Bring</a:t>
            </a:r>
          </a:p>
        </p:txBody>
      </p:sp>
      <p:sp>
        <p:nvSpPr>
          <p:cNvPr id="10" name="Rounded Rectangle 9"/>
          <p:cNvSpPr/>
          <p:nvPr/>
        </p:nvSpPr>
        <p:spPr>
          <a:xfrm>
            <a:off x="5943600" y="2377440"/>
            <a:ext cx="5760720" cy="2560320"/>
          </a:xfrm>
          <a:prstGeom prst="roundRect">
            <a:avLst/>
          </a:prstGeom>
          <a:solidFill>
            <a:srgbClr val="F0F5FA"/>
          </a:solidFill>
          <a:ln>
            <a:solidFill>
              <a:srgbClr val="005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2560320"/>
            <a:ext cx="5394960" cy="2286000"/>
          </a:xfrm>
          <a:prstGeom prst="rect">
            <a:avLst/>
          </a:prstGeom>
          <a:noFill/>
        </p:spPr>
        <p:txBody>
          <a:bodyPr wrap="square">
            <a:spAutoFit/>
          </a:bodyPr>
          <a:lstStyle/>
          <a:p>
            <a:pPr>
              <a:spcAft>
                <a:spcPts val="800"/>
              </a:spcAft>
              <a:defRPr sz="1500">
                <a:solidFill>
                  <a:srgbClr val="3C3C3C"/>
                </a:solidFill>
              </a:defRPr>
            </a:pPr>
            <a:r>
              <a:t>• Ability to connect scattered data sources into one view</a:t>
            </a:r>
          </a:p>
          <a:p>
            <a:pPr>
              <a:spcAft>
                <a:spcPts val="800"/>
              </a:spcAft>
              <a:defRPr sz="1500">
                <a:solidFill>
                  <a:srgbClr val="3C3C3C"/>
                </a:solidFill>
              </a:defRPr>
            </a:pPr>
            <a:r>
              <a:t>• Skills to automate repetitive data tasks</a:t>
            </a:r>
          </a:p>
          <a:p>
            <a:pPr>
              <a:spcAft>
                <a:spcPts val="800"/>
              </a:spcAft>
              <a:defRPr sz="1500">
                <a:solidFill>
                  <a:srgbClr val="3C3C3C"/>
                </a:solidFill>
              </a:defRPr>
            </a:pPr>
            <a:r>
              <a:t>• Experience building predictive models and AI tools</a:t>
            </a:r>
          </a:p>
          <a:p>
            <a:pPr>
              <a:spcAft>
                <a:spcPts val="800"/>
              </a:spcAft>
              <a:defRPr sz="1500">
                <a:solidFill>
                  <a:srgbClr val="3C3C3C"/>
                </a:solidFill>
              </a:defRPr>
            </a:pPr>
            <a:r>
              <a:t>• Knowledge of best practices from across the industry</a:t>
            </a:r>
          </a:p>
        </p:txBody>
      </p:sp>
      <p:sp>
        <p:nvSpPr>
          <p:cNvPr id="12" name="Rounded Rectangle 11"/>
          <p:cNvSpPr/>
          <p:nvPr/>
        </p:nvSpPr>
        <p:spPr>
          <a:xfrm>
            <a:off x="457200" y="5120640"/>
            <a:ext cx="11247120" cy="54864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193792"/>
            <a:ext cx="10881360" cy="457200"/>
          </a:xfrm>
          <a:prstGeom prst="rect">
            <a:avLst/>
          </a:prstGeom>
          <a:noFill/>
        </p:spPr>
        <p:txBody>
          <a:bodyPr wrap="none">
            <a:spAutoFit/>
          </a:bodyPr>
          <a:lstStyle/>
          <a:p>
            <a:pPr algn="ctr">
              <a:defRPr sz="2000" b="1">
                <a:solidFill>
                  <a:srgbClr val="FFFFFF"/>
                </a:solidFill>
              </a:defRPr>
            </a:pPr>
            <a:r>
              <a:t>Together We Create</a:t>
            </a:r>
          </a:p>
        </p:txBody>
      </p:sp>
      <p:sp>
        <p:nvSpPr>
          <p:cNvPr id="14" name="Rounded Rectangle 13"/>
          <p:cNvSpPr/>
          <p:nvPr/>
        </p:nvSpPr>
        <p:spPr>
          <a:xfrm>
            <a:off x="457200" y="5669280"/>
            <a:ext cx="11247120" cy="1005840"/>
          </a:xfrm>
          <a:prstGeom prst="roundRect">
            <a:avLst/>
          </a:prstGeom>
          <a:solidFill>
            <a:srgbClr val="E8F0FE"/>
          </a:solidFill>
          <a:ln>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806440"/>
            <a:ext cx="10881360" cy="822960"/>
          </a:xfrm>
          <a:prstGeom prst="rect">
            <a:avLst/>
          </a:prstGeom>
          <a:noFill/>
        </p:spPr>
        <p:txBody>
          <a:bodyPr wrap="none">
            <a:spAutoFit/>
          </a:bodyPr>
          <a:lstStyle/>
          <a:p>
            <a:pPr algn="ctr">
              <a:defRPr sz="1800">
                <a:solidFill>
                  <a:srgbClr val="3C3C3C"/>
                </a:solidFill>
              </a:defRPr>
            </a:pPr>
            <a:r>
              <a:t>Solutions that actually solve your real problems — because we build them together based on your expertise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914400"/>
          </a:xfrm>
          <a:prstGeom prst="rect">
            <a:avLst/>
          </a:prstGeom>
          <a:noFill/>
        </p:spPr>
        <p:txBody>
          <a:bodyPr wrap="square">
            <a:spAutoFit/>
          </a:bodyPr>
          <a:lstStyle/>
          <a:p>
            <a:pPr algn="l">
              <a:defRPr sz="4400" b="1">
                <a:solidFill>
                  <a:srgbClr val="005293"/>
                </a:solidFill>
              </a:defRPr>
            </a:pPr>
            <a:r>
              <a:t>What Can We Build Together?</a:t>
            </a:r>
          </a:p>
        </p:txBody>
      </p:sp>
      <p:sp>
        <p:nvSpPr>
          <p:cNvPr id="3" name="TextBox 2"/>
          <p:cNvSpPr txBox="1"/>
          <p:nvPr/>
        </p:nvSpPr>
        <p:spPr>
          <a:xfrm>
            <a:off x="457200" y="914400"/>
            <a:ext cx="10972800" cy="548640"/>
          </a:xfrm>
          <a:prstGeom prst="rect">
            <a:avLst/>
          </a:prstGeom>
          <a:noFill/>
        </p:spPr>
        <p:txBody>
          <a:bodyPr wrap="none">
            <a:spAutoFit/>
          </a:bodyPr>
          <a:lstStyle/>
          <a:p>
            <a:pPr>
              <a:defRPr sz="1600">
                <a:solidFill>
                  <a:srgbClr val="3C3C3C"/>
                </a:solidFill>
              </a:defRPr>
            </a:pPr>
            <a:r>
              <a:t>Examples relevant to getting projects from land acquisition through permitting</a:t>
            </a:r>
          </a:p>
        </p:txBody>
      </p:sp>
      <p:sp>
        <p:nvSpPr>
          <p:cNvPr id="4" name="Rounded Rectangle 3"/>
          <p:cNvSpPr/>
          <p:nvPr/>
        </p:nvSpPr>
        <p:spPr>
          <a:xfrm>
            <a:off x="457200" y="1463040"/>
            <a:ext cx="3657600" cy="2011680"/>
          </a:xfrm>
          <a:prstGeom prst="roundRect">
            <a:avLst/>
          </a:prstGeom>
          <a:solidFill>
            <a:srgbClr val="FFFFFF"/>
          </a:solidFill>
          <a:ln w="1270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463040"/>
            <a:ext cx="3657600" cy="137160"/>
          </a:xfrm>
          <a:prstGeom prst="rect">
            <a:avLst/>
          </a:prstGeom>
          <a:solidFill>
            <a:srgbClr val="005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91640"/>
            <a:ext cx="3383280" cy="457200"/>
          </a:xfrm>
          <a:prstGeom prst="rect">
            <a:avLst/>
          </a:prstGeom>
          <a:noFill/>
        </p:spPr>
        <p:txBody>
          <a:bodyPr wrap="none">
            <a:spAutoFit/>
          </a:bodyPr>
          <a:lstStyle/>
          <a:p>
            <a:pPr>
              <a:defRPr sz="1500" b="1">
                <a:solidFill>
                  <a:srgbClr val="3C3C3C"/>
                </a:solidFill>
              </a:defRPr>
            </a:pPr>
            <a:r>
              <a:t>📊 Unified Project Dashboard</a:t>
            </a:r>
          </a:p>
        </p:txBody>
      </p:sp>
      <p:sp>
        <p:nvSpPr>
          <p:cNvPr id="7" name="TextBox 6"/>
          <p:cNvSpPr txBox="1"/>
          <p:nvPr/>
        </p:nvSpPr>
        <p:spPr>
          <a:xfrm>
            <a:off x="594360" y="2148840"/>
            <a:ext cx="3383280" cy="1280160"/>
          </a:xfrm>
          <a:prstGeom prst="rect">
            <a:avLst/>
          </a:prstGeom>
          <a:noFill/>
        </p:spPr>
        <p:txBody>
          <a:bodyPr wrap="square">
            <a:spAutoFit/>
          </a:bodyPr>
          <a:lstStyle/>
          <a:p>
            <a:pPr>
              <a:defRPr sz="1300">
                <a:solidFill>
                  <a:srgbClr val="646464"/>
                </a:solidFill>
              </a:defRPr>
            </a:pPr>
            <a:r>
              <a:t>One place to see every project's status from initial land contact through permit approval</a:t>
            </a:r>
          </a:p>
        </p:txBody>
      </p:sp>
      <p:sp>
        <p:nvSpPr>
          <p:cNvPr id="8" name="Rounded Rectangle 7"/>
          <p:cNvSpPr/>
          <p:nvPr/>
        </p:nvSpPr>
        <p:spPr>
          <a:xfrm>
            <a:off x="4297680" y="1463040"/>
            <a:ext cx="3657600" cy="2011680"/>
          </a:xfrm>
          <a:prstGeom prst="roundRect">
            <a:avLst/>
          </a:prstGeom>
          <a:solidFill>
            <a:srgbClr val="FFFFFF"/>
          </a:solidFill>
          <a:ln w="1270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463040"/>
            <a:ext cx="3657600" cy="13716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34840" y="1691640"/>
            <a:ext cx="3383280" cy="457200"/>
          </a:xfrm>
          <a:prstGeom prst="rect">
            <a:avLst/>
          </a:prstGeom>
          <a:noFill/>
        </p:spPr>
        <p:txBody>
          <a:bodyPr wrap="none">
            <a:spAutoFit/>
          </a:bodyPr>
          <a:lstStyle/>
          <a:p>
            <a:pPr>
              <a:defRPr sz="1500" b="1">
                <a:solidFill>
                  <a:srgbClr val="3C3C3C"/>
                </a:solidFill>
              </a:defRPr>
            </a:pPr>
            <a:r>
              <a:t>🗄️ Connected Databases</a:t>
            </a:r>
          </a:p>
        </p:txBody>
      </p:sp>
      <p:sp>
        <p:nvSpPr>
          <p:cNvPr id="11" name="TextBox 10"/>
          <p:cNvSpPr txBox="1"/>
          <p:nvPr/>
        </p:nvSpPr>
        <p:spPr>
          <a:xfrm>
            <a:off x="4434840" y="2148840"/>
            <a:ext cx="3383280" cy="1280160"/>
          </a:xfrm>
          <a:prstGeom prst="rect">
            <a:avLst/>
          </a:prstGeom>
          <a:noFill/>
        </p:spPr>
        <p:txBody>
          <a:bodyPr wrap="square">
            <a:spAutoFit/>
          </a:bodyPr>
          <a:lstStyle/>
          <a:p>
            <a:pPr>
              <a:defRPr sz="1300">
                <a:solidFill>
                  <a:srgbClr val="646464"/>
                </a:solidFill>
              </a:defRPr>
            </a:pPr>
            <a:r>
              <a:t>Link your spreadsheets, documents, and systems so data flows automatically instead of manual updates</a:t>
            </a:r>
          </a:p>
        </p:txBody>
      </p:sp>
      <p:sp>
        <p:nvSpPr>
          <p:cNvPr id="12" name="Rounded Rectangle 11"/>
          <p:cNvSpPr/>
          <p:nvPr/>
        </p:nvSpPr>
        <p:spPr>
          <a:xfrm>
            <a:off x="8138160" y="1463040"/>
            <a:ext cx="3657600" cy="2011680"/>
          </a:xfrm>
          <a:prstGeom prst="roundRect">
            <a:avLst/>
          </a:prstGeom>
          <a:solidFill>
            <a:srgbClr val="FFFFFF"/>
          </a:solidFill>
          <a:ln w="1270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463040"/>
            <a:ext cx="3657600" cy="137160"/>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691640"/>
            <a:ext cx="3383280" cy="457200"/>
          </a:xfrm>
          <a:prstGeom prst="rect">
            <a:avLst/>
          </a:prstGeom>
          <a:noFill/>
        </p:spPr>
        <p:txBody>
          <a:bodyPr wrap="none">
            <a:spAutoFit/>
          </a:bodyPr>
          <a:lstStyle/>
          <a:p>
            <a:pPr>
              <a:defRPr sz="1500" b="1">
                <a:solidFill>
                  <a:srgbClr val="3C3C3C"/>
                </a:solidFill>
              </a:defRPr>
            </a:pPr>
            <a:r>
              <a:t>📈 Trend Analysis</a:t>
            </a:r>
          </a:p>
        </p:txBody>
      </p:sp>
      <p:sp>
        <p:nvSpPr>
          <p:cNvPr id="15" name="TextBox 14"/>
          <p:cNvSpPr txBox="1"/>
          <p:nvPr/>
        </p:nvSpPr>
        <p:spPr>
          <a:xfrm>
            <a:off x="8275320" y="2148840"/>
            <a:ext cx="3383280" cy="1280160"/>
          </a:xfrm>
          <a:prstGeom prst="rect">
            <a:avLst/>
          </a:prstGeom>
          <a:noFill/>
        </p:spPr>
        <p:txBody>
          <a:bodyPr wrap="square">
            <a:spAutoFit/>
          </a:bodyPr>
          <a:lstStyle/>
          <a:p>
            <a:pPr>
              <a:defRPr sz="1300">
                <a:solidFill>
                  <a:srgbClr val="646464"/>
                </a:solidFill>
              </a:defRPr>
            </a:pPr>
            <a:r>
              <a:t>See patterns like which counties approve permits faster, or what landowner characteristics predict success</a:t>
            </a:r>
          </a:p>
        </p:txBody>
      </p:sp>
      <p:sp>
        <p:nvSpPr>
          <p:cNvPr id="16" name="Rounded Rectangle 15"/>
          <p:cNvSpPr/>
          <p:nvPr/>
        </p:nvSpPr>
        <p:spPr>
          <a:xfrm>
            <a:off x="457200" y="3657600"/>
            <a:ext cx="3657600" cy="2011680"/>
          </a:xfrm>
          <a:prstGeom prst="roundRect">
            <a:avLst/>
          </a:prstGeom>
          <a:solidFill>
            <a:srgbClr val="FFFFFF"/>
          </a:solidFill>
          <a:ln w="1270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657600"/>
            <a:ext cx="3657600" cy="137160"/>
          </a:xfrm>
          <a:prstGeom prst="rect">
            <a:avLst/>
          </a:prstGeom>
          <a:solidFill>
            <a:srgbClr val="9C27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886200"/>
            <a:ext cx="3383280" cy="457200"/>
          </a:xfrm>
          <a:prstGeom prst="rect">
            <a:avLst/>
          </a:prstGeom>
          <a:noFill/>
        </p:spPr>
        <p:txBody>
          <a:bodyPr wrap="none">
            <a:spAutoFit/>
          </a:bodyPr>
          <a:lstStyle/>
          <a:p>
            <a:pPr>
              <a:defRPr sz="1500" b="1">
                <a:solidFill>
                  <a:srgbClr val="3C3C3C"/>
                </a:solidFill>
              </a:defRPr>
            </a:pPr>
            <a:r>
              <a:t>🔮 Timeline Predictions</a:t>
            </a:r>
          </a:p>
        </p:txBody>
      </p:sp>
      <p:sp>
        <p:nvSpPr>
          <p:cNvPr id="19" name="TextBox 18"/>
          <p:cNvSpPr txBox="1"/>
          <p:nvPr/>
        </p:nvSpPr>
        <p:spPr>
          <a:xfrm>
            <a:off x="594360" y="4343400"/>
            <a:ext cx="3383280" cy="1280160"/>
          </a:xfrm>
          <a:prstGeom prst="rect">
            <a:avLst/>
          </a:prstGeom>
          <a:noFill/>
        </p:spPr>
        <p:txBody>
          <a:bodyPr wrap="square">
            <a:spAutoFit/>
          </a:bodyPr>
          <a:lstStyle/>
          <a:p>
            <a:pPr>
              <a:defRPr sz="1300">
                <a:solidFill>
                  <a:srgbClr val="646464"/>
                </a:solidFill>
              </a:defRPr>
            </a:pPr>
            <a:r>
              <a:t>Forecast realistic permit approval dates based on historical data and current conditions</a:t>
            </a:r>
          </a:p>
        </p:txBody>
      </p:sp>
      <p:sp>
        <p:nvSpPr>
          <p:cNvPr id="20" name="Rounded Rectangle 19"/>
          <p:cNvSpPr/>
          <p:nvPr/>
        </p:nvSpPr>
        <p:spPr>
          <a:xfrm>
            <a:off x="4297680" y="3657600"/>
            <a:ext cx="3657600" cy="2011680"/>
          </a:xfrm>
          <a:prstGeom prst="roundRect">
            <a:avLst/>
          </a:prstGeom>
          <a:solidFill>
            <a:srgbClr val="FFFFFF"/>
          </a:solidFill>
          <a:ln w="1270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80" y="3657600"/>
            <a:ext cx="3657600" cy="1371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3886200"/>
            <a:ext cx="3383280" cy="457200"/>
          </a:xfrm>
          <a:prstGeom prst="rect">
            <a:avLst/>
          </a:prstGeom>
          <a:noFill/>
        </p:spPr>
        <p:txBody>
          <a:bodyPr wrap="none">
            <a:spAutoFit/>
          </a:bodyPr>
          <a:lstStyle/>
          <a:p>
            <a:pPr>
              <a:defRPr sz="1500" b="1">
                <a:solidFill>
                  <a:srgbClr val="3C3C3C"/>
                </a:solidFill>
              </a:defRPr>
            </a:pPr>
            <a:r>
              <a:t>🤖 AI Document Tools</a:t>
            </a:r>
          </a:p>
        </p:txBody>
      </p:sp>
      <p:sp>
        <p:nvSpPr>
          <p:cNvPr id="23" name="TextBox 22"/>
          <p:cNvSpPr txBox="1"/>
          <p:nvPr/>
        </p:nvSpPr>
        <p:spPr>
          <a:xfrm>
            <a:off x="4434840" y="4343400"/>
            <a:ext cx="3383280" cy="1280160"/>
          </a:xfrm>
          <a:prstGeom prst="rect">
            <a:avLst/>
          </a:prstGeom>
          <a:noFill/>
        </p:spPr>
        <p:txBody>
          <a:bodyPr wrap="square">
            <a:spAutoFit/>
          </a:bodyPr>
          <a:lstStyle/>
          <a:p>
            <a:pPr>
              <a:defRPr sz="1300">
                <a:solidFill>
                  <a:srgbClr val="646464"/>
                </a:solidFill>
              </a:defRPr>
            </a:pPr>
            <a:r>
              <a:t>Auto-generate permit applications, landowner letters, or reports from your project data</a:t>
            </a:r>
          </a:p>
        </p:txBody>
      </p:sp>
      <p:sp>
        <p:nvSpPr>
          <p:cNvPr id="24" name="Rounded Rectangle 23"/>
          <p:cNvSpPr/>
          <p:nvPr/>
        </p:nvSpPr>
        <p:spPr>
          <a:xfrm>
            <a:off x="8138160" y="3657600"/>
            <a:ext cx="3657600" cy="2011680"/>
          </a:xfrm>
          <a:prstGeom prst="roundRect">
            <a:avLst/>
          </a:prstGeom>
          <a:solidFill>
            <a:srgbClr val="FFFFFF"/>
          </a:solidFill>
          <a:ln w="1270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38160" y="3657600"/>
            <a:ext cx="3657600" cy="13716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20" y="3886200"/>
            <a:ext cx="3383280" cy="457200"/>
          </a:xfrm>
          <a:prstGeom prst="rect">
            <a:avLst/>
          </a:prstGeom>
          <a:noFill/>
        </p:spPr>
        <p:txBody>
          <a:bodyPr wrap="none">
            <a:spAutoFit/>
          </a:bodyPr>
          <a:lstStyle/>
          <a:p>
            <a:pPr>
              <a:defRPr sz="1500" b="1">
                <a:solidFill>
                  <a:srgbClr val="3C3C3C"/>
                </a:solidFill>
              </a:defRPr>
            </a:pPr>
            <a:r>
              <a:t>🗺️ Visual Mapping</a:t>
            </a:r>
          </a:p>
        </p:txBody>
      </p:sp>
      <p:sp>
        <p:nvSpPr>
          <p:cNvPr id="27" name="TextBox 26"/>
          <p:cNvSpPr txBox="1"/>
          <p:nvPr/>
        </p:nvSpPr>
        <p:spPr>
          <a:xfrm>
            <a:off x="8275320" y="4343400"/>
            <a:ext cx="3383280" cy="1280160"/>
          </a:xfrm>
          <a:prstGeom prst="rect">
            <a:avLst/>
          </a:prstGeom>
          <a:noFill/>
        </p:spPr>
        <p:txBody>
          <a:bodyPr wrap="square">
            <a:spAutoFit/>
          </a:bodyPr>
          <a:lstStyle/>
          <a:p>
            <a:pPr>
              <a:defRPr sz="1300">
                <a:solidFill>
                  <a:srgbClr val="646464"/>
                </a:solidFill>
              </a:defRPr>
            </a:pPr>
            <a:r>
              <a:t>Interactive maps showing project pipeline, land status, and key metrics at a glance</a:t>
            </a:r>
          </a:p>
        </p:txBody>
      </p:sp>
      <p:sp>
        <p:nvSpPr>
          <p:cNvPr id="28" name="TextBox 27"/>
          <p:cNvSpPr txBox="1"/>
          <p:nvPr/>
        </p:nvSpPr>
        <p:spPr>
          <a:xfrm>
            <a:off x="457200" y="5669280"/>
            <a:ext cx="11247120" cy="548640"/>
          </a:xfrm>
          <a:prstGeom prst="rect">
            <a:avLst/>
          </a:prstGeom>
          <a:noFill/>
        </p:spPr>
        <p:txBody>
          <a:bodyPr wrap="none">
            <a:spAutoFit/>
          </a:bodyPr>
          <a:lstStyle/>
          <a:p>
            <a:pPr algn="ctr">
              <a:defRPr sz="1600" i="1">
                <a:solidFill>
                  <a:srgbClr val="009688"/>
                </a:solidFill>
              </a:defRPr>
            </a:pPr>
            <a:r>
              <a:t>These are just examples — we tailor solutions to your specific challenges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914400"/>
          </a:xfrm>
          <a:prstGeom prst="rect">
            <a:avLst/>
          </a:prstGeom>
          <a:noFill/>
        </p:spPr>
        <p:txBody>
          <a:bodyPr wrap="square">
            <a:spAutoFit/>
          </a:bodyPr>
          <a:lstStyle/>
          <a:p>
            <a:pPr algn="l">
              <a:defRPr sz="4400" b="1">
                <a:solidFill>
                  <a:srgbClr val="005293"/>
                </a:solidFill>
              </a:defRPr>
            </a:pPr>
            <a:r>
              <a:t>How to Work With Us</a:t>
            </a:r>
          </a:p>
        </p:txBody>
      </p:sp>
      <p:sp>
        <p:nvSpPr>
          <p:cNvPr id="3" name="Oval 2"/>
          <p:cNvSpPr/>
          <p:nvPr/>
        </p:nvSpPr>
        <p:spPr>
          <a:xfrm>
            <a:off x="1463040" y="1371600"/>
            <a:ext cx="731520" cy="731520"/>
          </a:xfrm>
          <a:prstGeom prst="ellipse">
            <a:avLst/>
          </a:prstGeom>
          <a:solidFill>
            <a:srgbClr val="005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08760" y="1508760"/>
            <a:ext cx="640080" cy="457200"/>
          </a:xfrm>
          <a:prstGeom prst="rect">
            <a:avLst/>
          </a:prstGeom>
          <a:noFill/>
        </p:spPr>
        <p:txBody>
          <a:bodyPr wrap="none">
            <a:spAutoFit/>
          </a:bodyPr>
          <a:lstStyle/>
          <a:p>
            <a:pPr algn="ctr">
              <a:defRPr sz="2800" b="1">
                <a:solidFill>
                  <a:srgbClr val="FFFFFF"/>
                </a:solidFill>
              </a:defRPr>
            </a:pPr>
            <a:r>
              <a:t>1</a:t>
            </a:r>
          </a:p>
        </p:txBody>
      </p:sp>
      <p:sp>
        <p:nvSpPr>
          <p:cNvPr id="5" name="TextBox 4"/>
          <p:cNvSpPr txBox="1"/>
          <p:nvPr/>
        </p:nvSpPr>
        <p:spPr>
          <a:xfrm>
            <a:off x="548640" y="2286000"/>
            <a:ext cx="2560320" cy="548640"/>
          </a:xfrm>
          <a:prstGeom prst="rect">
            <a:avLst/>
          </a:prstGeom>
          <a:noFill/>
        </p:spPr>
        <p:txBody>
          <a:bodyPr wrap="square">
            <a:spAutoFit/>
          </a:bodyPr>
          <a:lstStyle/>
          <a:p>
            <a:pPr algn="ctr">
              <a:defRPr sz="1800" b="1">
                <a:solidFill>
                  <a:srgbClr val="3C3C3C"/>
                </a:solidFill>
              </a:defRPr>
            </a:pPr>
            <a:r>
              <a:t>Share Your Challenge</a:t>
            </a:r>
          </a:p>
        </p:txBody>
      </p:sp>
      <p:sp>
        <p:nvSpPr>
          <p:cNvPr id="6" name="TextBox 5"/>
          <p:cNvSpPr txBox="1"/>
          <p:nvPr/>
        </p:nvSpPr>
        <p:spPr>
          <a:xfrm>
            <a:off x="548640" y="2834640"/>
            <a:ext cx="2560320" cy="1371600"/>
          </a:xfrm>
          <a:prstGeom prst="rect">
            <a:avLst/>
          </a:prstGeom>
          <a:noFill/>
        </p:spPr>
        <p:txBody>
          <a:bodyPr wrap="square">
            <a:spAutoFit/>
          </a:bodyPr>
          <a:lstStyle/>
          <a:p>
            <a:pPr algn="ctr">
              <a:defRPr sz="1400">
                <a:solidFill>
                  <a:srgbClr val="646464"/>
                </a:solidFill>
              </a:defRPr>
            </a:pPr>
            <a:r>
              <a:t>Tell us about a problem you're facing or an idea you have</a:t>
            </a:r>
          </a:p>
        </p:txBody>
      </p:sp>
      <p:sp>
        <p:nvSpPr>
          <p:cNvPr id="7" name="Right Arrow 6"/>
          <p:cNvSpPr/>
          <p:nvPr/>
        </p:nvSpPr>
        <p:spPr>
          <a:xfrm>
            <a:off x="3154680" y="1554480"/>
            <a:ext cx="274320" cy="365760"/>
          </a:xfrm>
          <a:prstGeom prst="rightArrow">
            <a:avLst/>
          </a:prstGeom>
          <a:solidFill>
            <a:srgbClr val="C8D2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389120" y="1371600"/>
            <a:ext cx="731520" cy="73152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508760"/>
            <a:ext cx="640080" cy="457200"/>
          </a:xfrm>
          <a:prstGeom prst="rect">
            <a:avLst/>
          </a:prstGeom>
          <a:noFill/>
        </p:spPr>
        <p:txBody>
          <a:bodyPr wrap="none">
            <a:spAutoFit/>
          </a:bodyPr>
          <a:lstStyle/>
          <a:p>
            <a:pPr algn="ctr">
              <a:defRPr sz="2800" b="1">
                <a:solidFill>
                  <a:srgbClr val="FFFFFF"/>
                </a:solidFill>
              </a:defRPr>
            </a:pPr>
            <a:r>
              <a:t>2</a:t>
            </a:r>
          </a:p>
        </p:txBody>
      </p:sp>
      <p:sp>
        <p:nvSpPr>
          <p:cNvPr id="10" name="TextBox 9"/>
          <p:cNvSpPr txBox="1"/>
          <p:nvPr/>
        </p:nvSpPr>
        <p:spPr>
          <a:xfrm>
            <a:off x="3474720" y="2286000"/>
            <a:ext cx="2560320" cy="548640"/>
          </a:xfrm>
          <a:prstGeom prst="rect">
            <a:avLst/>
          </a:prstGeom>
          <a:noFill/>
        </p:spPr>
        <p:txBody>
          <a:bodyPr wrap="square">
            <a:spAutoFit/>
          </a:bodyPr>
          <a:lstStyle/>
          <a:p>
            <a:pPr algn="ctr">
              <a:defRPr sz="1800" b="1">
                <a:solidFill>
                  <a:srgbClr val="3C3C3C"/>
                </a:solidFill>
              </a:defRPr>
            </a:pPr>
            <a:r>
              <a:t>We Explore Together</a:t>
            </a:r>
          </a:p>
        </p:txBody>
      </p:sp>
      <p:sp>
        <p:nvSpPr>
          <p:cNvPr id="11" name="TextBox 10"/>
          <p:cNvSpPr txBox="1"/>
          <p:nvPr/>
        </p:nvSpPr>
        <p:spPr>
          <a:xfrm>
            <a:off x="3474720" y="2834640"/>
            <a:ext cx="2560320" cy="1371600"/>
          </a:xfrm>
          <a:prstGeom prst="rect">
            <a:avLst/>
          </a:prstGeom>
          <a:noFill/>
        </p:spPr>
        <p:txBody>
          <a:bodyPr wrap="square">
            <a:spAutoFit/>
          </a:bodyPr>
          <a:lstStyle/>
          <a:p>
            <a:pPr algn="ctr">
              <a:defRPr sz="1400">
                <a:solidFill>
                  <a:srgbClr val="646464"/>
                </a:solidFill>
              </a:defRPr>
            </a:pPr>
            <a:r>
              <a:t>We ask questions to understand your world and what success looks like</a:t>
            </a:r>
          </a:p>
        </p:txBody>
      </p:sp>
      <p:sp>
        <p:nvSpPr>
          <p:cNvPr id="12" name="Right Arrow 11"/>
          <p:cNvSpPr/>
          <p:nvPr/>
        </p:nvSpPr>
        <p:spPr>
          <a:xfrm>
            <a:off x="6080760" y="1554480"/>
            <a:ext cx="274320" cy="365760"/>
          </a:xfrm>
          <a:prstGeom prst="rightArrow">
            <a:avLst/>
          </a:prstGeom>
          <a:solidFill>
            <a:srgbClr val="C8D2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0" y="1371600"/>
            <a:ext cx="731520" cy="731520"/>
          </a:xfrm>
          <a:prstGeom prst="ellipse">
            <a:avLst/>
          </a:prstGeom>
          <a:solidFill>
            <a:srgbClr val="005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0920" y="1508760"/>
            <a:ext cx="640080" cy="457200"/>
          </a:xfrm>
          <a:prstGeom prst="rect">
            <a:avLst/>
          </a:prstGeom>
          <a:noFill/>
        </p:spPr>
        <p:txBody>
          <a:bodyPr wrap="none">
            <a:spAutoFit/>
          </a:bodyPr>
          <a:lstStyle/>
          <a:p>
            <a:pPr algn="ctr">
              <a:defRPr sz="2800" b="1">
                <a:solidFill>
                  <a:srgbClr val="FFFFFF"/>
                </a:solidFill>
              </a:defRPr>
            </a:pPr>
            <a:r>
              <a:t>3</a:t>
            </a:r>
          </a:p>
        </p:txBody>
      </p:sp>
      <p:sp>
        <p:nvSpPr>
          <p:cNvPr id="15" name="TextBox 14"/>
          <p:cNvSpPr txBox="1"/>
          <p:nvPr/>
        </p:nvSpPr>
        <p:spPr>
          <a:xfrm>
            <a:off x="6400800" y="2286000"/>
            <a:ext cx="2560320" cy="548640"/>
          </a:xfrm>
          <a:prstGeom prst="rect">
            <a:avLst/>
          </a:prstGeom>
          <a:noFill/>
        </p:spPr>
        <p:txBody>
          <a:bodyPr wrap="square">
            <a:spAutoFit/>
          </a:bodyPr>
          <a:lstStyle/>
          <a:p>
            <a:pPr algn="ctr">
              <a:defRPr sz="1800" b="1">
                <a:solidFill>
                  <a:srgbClr val="3C3C3C"/>
                </a:solidFill>
              </a:defRPr>
            </a:pPr>
            <a:r>
              <a:t>Design a Solution</a:t>
            </a:r>
          </a:p>
        </p:txBody>
      </p:sp>
      <p:sp>
        <p:nvSpPr>
          <p:cNvPr id="16" name="TextBox 15"/>
          <p:cNvSpPr txBox="1"/>
          <p:nvPr/>
        </p:nvSpPr>
        <p:spPr>
          <a:xfrm>
            <a:off x="6400800" y="2834640"/>
            <a:ext cx="2560320" cy="1371600"/>
          </a:xfrm>
          <a:prstGeom prst="rect">
            <a:avLst/>
          </a:prstGeom>
          <a:noFill/>
        </p:spPr>
        <p:txBody>
          <a:bodyPr wrap="square">
            <a:spAutoFit/>
          </a:bodyPr>
          <a:lstStyle/>
          <a:p>
            <a:pPr algn="ctr">
              <a:defRPr sz="1400">
                <a:solidFill>
                  <a:srgbClr val="646464"/>
                </a:solidFill>
              </a:defRPr>
            </a:pPr>
            <a:r>
              <a:t>We propose approaches and you help us refine them</a:t>
            </a:r>
          </a:p>
        </p:txBody>
      </p:sp>
      <p:sp>
        <p:nvSpPr>
          <p:cNvPr id="17" name="Right Arrow 16"/>
          <p:cNvSpPr/>
          <p:nvPr/>
        </p:nvSpPr>
        <p:spPr>
          <a:xfrm>
            <a:off x="9006840" y="1554480"/>
            <a:ext cx="274320" cy="365760"/>
          </a:xfrm>
          <a:prstGeom prst="rightArrow">
            <a:avLst/>
          </a:prstGeom>
          <a:solidFill>
            <a:srgbClr val="C8D2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41280" y="1371600"/>
            <a:ext cx="731520" cy="73152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87000" y="1508760"/>
            <a:ext cx="640080" cy="457200"/>
          </a:xfrm>
          <a:prstGeom prst="rect">
            <a:avLst/>
          </a:prstGeom>
          <a:noFill/>
        </p:spPr>
        <p:txBody>
          <a:bodyPr wrap="none">
            <a:spAutoFit/>
          </a:bodyPr>
          <a:lstStyle/>
          <a:p>
            <a:pPr algn="ctr">
              <a:defRPr sz="2800" b="1">
                <a:solidFill>
                  <a:srgbClr val="FFFFFF"/>
                </a:solidFill>
              </a:defRPr>
            </a:pPr>
            <a:r>
              <a:t>4</a:t>
            </a:r>
          </a:p>
        </p:txBody>
      </p:sp>
      <p:sp>
        <p:nvSpPr>
          <p:cNvPr id="20" name="TextBox 19"/>
          <p:cNvSpPr txBox="1"/>
          <p:nvPr/>
        </p:nvSpPr>
        <p:spPr>
          <a:xfrm>
            <a:off x="9326880" y="2286000"/>
            <a:ext cx="2560320" cy="548640"/>
          </a:xfrm>
          <a:prstGeom prst="rect">
            <a:avLst/>
          </a:prstGeom>
          <a:noFill/>
        </p:spPr>
        <p:txBody>
          <a:bodyPr wrap="square">
            <a:spAutoFit/>
          </a:bodyPr>
          <a:lstStyle/>
          <a:p>
            <a:pPr algn="ctr">
              <a:defRPr sz="1800" b="1">
                <a:solidFill>
                  <a:srgbClr val="3C3C3C"/>
                </a:solidFill>
              </a:defRPr>
            </a:pPr>
            <a:r>
              <a:t>Build &amp; Iterate</a:t>
            </a:r>
          </a:p>
        </p:txBody>
      </p:sp>
      <p:sp>
        <p:nvSpPr>
          <p:cNvPr id="21" name="TextBox 20"/>
          <p:cNvSpPr txBox="1"/>
          <p:nvPr/>
        </p:nvSpPr>
        <p:spPr>
          <a:xfrm>
            <a:off x="9326880" y="2834640"/>
            <a:ext cx="2560320" cy="1371600"/>
          </a:xfrm>
          <a:prstGeom prst="rect">
            <a:avLst/>
          </a:prstGeom>
          <a:noFill/>
        </p:spPr>
        <p:txBody>
          <a:bodyPr wrap="square">
            <a:spAutoFit/>
          </a:bodyPr>
          <a:lstStyle/>
          <a:p>
            <a:pPr algn="ctr">
              <a:defRPr sz="1400">
                <a:solidFill>
                  <a:srgbClr val="646464"/>
                </a:solidFill>
              </a:defRPr>
            </a:pPr>
            <a:r>
              <a:t>We create, you test, we improve together</a:t>
            </a:r>
          </a:p>
        </p:txBody>
      </p:sp>
      <p:sp>
        <p:nvSpPr>
          <p:cNvPr id="22" name="Rounded Rectangle 21"/>
          <p:cNvSpPr/>
          <p:nvPr/>
        </p:nvSpPr>
        <p:spPr>
          <a:xfrm>
            <a:off x="457200" y="4846320"/>
            <a:ext cx="11247120" cy="1645920"/>
          </a:xfrm>
          <a:prstGeom prst="roundRect">
            <a:avLst/>
          </a:prstGeom>
          <a:solidFill>
            <a:srgbClr val="F0F8FF"/>
          </a:solidFill>
          <a:ln>
            <a:solidFill>
              <a:srgbClr val="005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029200"/>
            <a:ext cx="10881360" cy="457200"/>
          </a:xfrm>
          <a:prstGeom prst="rect">
            <a:avLst/>
          </a:prstGeom>
          <a:noFill/>
        </p:spPr>
        <p:txBody>
          <a:bodyPr wrap="none">
            <a:spAutoFit/>
          </a:bodyPr>
          <a:lstStyle/>
          <a:p>
            <a:pPr algn="ctr">
              <a:defRPr sz="2200" b="1">
                <a:solidFill>
                  <a:srgbClr val="005293"/>
                </a:solidFill>
              </a:defRPr>
            </a:pPr>
            <a:r>
              <a:t>No request is too small or too ambitious</a:t>
            </a:r>
          </a:p>
        </p:txBody>
      </p:sp>
      <p:sp>
        <p:nvSpPr>
          <p:cNvPr id="24" name="TextBox 23"/>
          <p:cNvSpPr txBox="1"/>
          <p:nvPr/>
        </p:nvSpPr>
        <p:spPr>
          <a:xfrm>
            <a:off x="640080" y="5577840"/>
            <a:ext cx="10881360" cy="822960"/>
          </a:xfrm>
          <a:prstGeom prst="rect">
            <a:avLst/>
          </a:prstGeom>
          <a:noFill/>
        </p:spPr>
        <p:txBody>
          <a:bodyPr wrap="square">
            <a:spAutoFit/>
          </a:bodyPr>
          <a:lstStyle/>
          <a:p>
            <a:pPr algn="ctr">
              <a:defRPr sz="1600">
                <a:solidFill>
                  <a:srgbClr val="3C3C3C"/>
                </a:solidFill>
              </a:defRPr>
            </a:pPr>
            <a:r>
              <a:t>Whether it's "Can you help me understand this spreadsheet?" or "We need a system to track 500 projects" — we're here to help. The best solutions often start with a simple conversation.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