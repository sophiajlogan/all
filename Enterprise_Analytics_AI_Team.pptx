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7315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66360"/>
            <a:ext cx="7315200" cy="36576"/>
          </a:xfrm>
          <a:prstGeom prst="rect">
            <a:avLst/>
          </a:prstGeom>
          <a:solidFill>
            <a:srgbClr val="558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Enterprise Analytics and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>
                <a:solidFill>
                  <a:srgbClr val="B0C4DE"/>
                </a:solidFill>
              </a:defRPr>
            </a:pPr>
            <a:r>
              <a:t>Partnering with teams to turn data into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i="1">
                <a:solidFill>
                  <a:srgbClr val="8CA0B4"/>
                </a:solidFill>
              </a:defRPr>
            </a:pPr>
            <a:r>
              <a:t>From land acquisition through permitting — we help you see the full picture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Who We 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094415" cy="1280160"/>
          </a:xfrm>
          <a:prstGeom prst="roundRect">
            <a:avLst/>
          </a:prstGeom>
          <a:solidFill>
            <a:srgbClr val="F0F8FF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475569"/>
                </a:solidFill>
              </a:defRPr>
            </a:pPr>
            <a:r>
              <a:t>You know how Netflix figures out which shows you'll like, or how your phone identifies a song in seconds? We build those kinds of systems — but for your business problems.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108960"/>
            <a:ext cx="356616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108960"/>
            <a:ext cx="3566160" cy="10972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8080"/>
                </a:solidFill>
              </a:defRPr>
            </a:pPr>
            <a:r>
              <a:t>We Build 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From simple dashboards to smart systems that learn and improve over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108960"/>
            <a:ext cx="356616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3108960"/>
            <a:ext cx="3566160" cy="10972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338328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We Analyze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8862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Finding the patterns and trends hidden in your spreadsheets and databases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108960"/>
            <a:ext cx="356616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58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3108960"/>
            <a:ext cx="3566160" cy="109728"/>
          </a:xfrm>
          <a:prstGeom prst="rect">
            <a:avLst/>
          </a:prstGeom>
          <a:solidFill>
            <a:srgbClr val="558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38328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558B6E"/>
                </a:solidFill>
              </a:defRPr>
            </a:pPr>
            <a:r>
              <a:t>We Solve Problems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8862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Working alongside you to tackle challenges with the right technology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i="1">
                <a:solidFill>
                  <a:srgbClr val="64748B"/>
                </a:solidFill>
              </a:defRPr>
            </a:pPr>
            <a:r>
              <a:t>Computer science + data science backgrounds → Real-world solutions for your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How We Work With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A shared resource that amplifies your capabilities — we don't replace your expertise, we enhance it</a:t>
            </a:r>
          </a:p>
        </p:txBody>
      </p:sp>
      <p:sp>
        <p:nvSpPr>
          <p:cNvPr id="6" name="Oval 5"/>
          <p:cNvSpPr/>
          <p:nvPr/>
        </p:nvSpPr>
        <p:spPr>
          <a:xfrm>
            <a:off x="5272430" y="3108960"/>
            <a:ext cx="1645920" cy="1645920"/>
          </a:xfrm>
          <a:prstGeom prst="ellipse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9590" y="361188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Enterprise</a:t>
            </a:r>
            <a:br/>
            <a:r>
              <a:t>Analytics &amp; AI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390.0" y="1828800.0"/>
            <a:ext cx="0.0" cy="210312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546750" y="128016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8190" y="16002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Land</a:t>
            </a:r>
            <a:br/>
            <a:r>
              <a:t>Acquisition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6095390" y="2880360.0"/>
            <a:ext cx="1821355.347207129" cy="105156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368105" y="233172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9545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Permitting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6095390" y="3931920"/>
            <a:ext cx="1821355.347207129" cy="105156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368105" y="443484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9545" y="4754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Engineering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95390.0" y="3931920"/>
            <a:ext cx="0.0" cy="210312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546750" y="548640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38190" y="58064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Finance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4274034.652792871" y="3931920"/>
            <a:ext cx="1821355.347207129" cy="105156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725394" y="443484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16834" y="4754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Legal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74034.652792871" y="2880360.0"/>
            <a:ext cx="1821355.347207129" cy="105156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3725394" y="233172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6834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Operations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2103120"/>
            <a:ext cx="3017520" cy="2011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58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2860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You remain the expert in your 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28803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We add technology capabilities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4747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Solutions built for your actual needs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16975" y="2103120"/>
            <a:ext cx="3017520" cy="201168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99855" y="22860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One team serves the whole company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9855" y="28803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Best practices shared across groups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9855" y="34747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Tools that work across departments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852160"/>
            <a:ext cx="11277295" cy="822960"/>
          </a:xfrm>
          <a:prstGeom prst="roundRect">
            <a:avLst/>
          </a:prstGeom>
          <a:solidFill>
            <a:srgbClr val="FFFAF0"/>
          </a:solidFill>
          <a:ln w="19050">
            <a:solidFill>
              <a:srgbClr val="CD8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9436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B46432"/>
                </a:solidFill>
              </a:defRPr>
            </a:pPr>
            <a:r>
              <a:t>What we need from you: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5943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A conversation or two to help us understand your work. That's it. We handle the technical building — you stay focused on your job.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What We Offer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65760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37160" cy="2286000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682B4"/>
                </a:solidFill>
              </a:defRPr>
            </a:pPr>
            <a:r>
              <a:t>👁️  See Your Data Clearly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From scattered spreadsheets to a single source of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Dashboards that show project status at a glance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Maps and visuals that update automatically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One place to see what's happening across teams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5760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137160" cy="22860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5087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80"/>
                </a:solidFill>
              </a:defRPr>
            </a:pPr>
            <a:r>
              <a:t>🔍  Understand What's Happening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9202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Turn raw data into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3317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Spot trends and patterns you'd otherwise miss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Find root causes when things slow down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Deep-dive analysis when you need to dig 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65760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58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137160" cy="2286000"/>
          </a:xfrm>
          <a:prstGeom prst="rect">
            <a:avLst/>
          </a:prstGeom>
          <a:solidFill>
            <a:srgbClr val="558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5087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58B6E"/>
                </a:solidFill>
              </a:defRPr>
            </a:pPr>
            <a:r>
              <a:t>🔮  Predict What's Coming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19202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See around corners before problems arrive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3317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Forecast timelines (like permit approvals)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Flag risks early so you can act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Model scenarios to plan ahead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31720" y="3840480"/>
            <a:ext cx="365760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70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31720" y="3840480"/>
            <a:ext cx="137160" cy="2286000"/>
          </a:xfrm>
          <a:prstGeom prst="rect">
            <a:avLst/>
          </a:prstGeom>
          <a:solidFill>
            <a:srgbClr val="9370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39776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9370A5"/>
                </a:solidFill>
              </a:defRPr>
            </a:pPr>
            <a:r>
              <a:t>🤖  Work Smarter with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3891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Intelligent tools that multiply your capacity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48006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Generate reports and documents automatically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Ask questions and get instant answers from your data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Automate routine tasks so you can focus on judgment calls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Get smart alerts when something needs your attention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840480"/>
            <a:ext cx="365760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D8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840480"/>
            <a:ext cx="137160" cy="2286000"/>
          </a:xfrm>
          <a:prstGeom prst="rect">
            <a:avLst/>
          </a:prstGeom>
          <a:solidFill>
            <a:srgbClr val="CD8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9776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CD853F"/>
                </a:solidFill>
              </a:defRPr>
            </a:pPr>
            <a:r>
              <a:t>🧭  Navigate AI Confidently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3891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Make smart choices in a fast-moving landscape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8006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Guidance on using ChatGPT and similar tools safely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Evaluate which AI products are actually worth it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Stay ahead with university and industry connections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Types of Solutions We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A spectrum of tools — from simple visibility to intelligent automation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14884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2148840" cy="137160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860" y="2240280"/>
            <a:ext cx="731520" cy="731520"/>
          </a:xfrm>
          <a:prstGeom prst="ellipse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1580" y="233172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682B4"/>
                </a:solidFill>
              </a:defRPr>
            </a:pPr>
            <a:r>
              <a:t>Dashboards &amp;</a:t>
            </a:r>
            <a:br/>
            <a:r>
              <a:t>Visualizations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59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75569"/>
                </a:solidFill>
              </a:defRPr>
            </a:pPr>
            <a:r>
              <a:t>See your data clearly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51960"/>
            <a:ext cx="1965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Status trackers, maps, charts that update automatically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24328" y="2651760"/>
            <a:ext cx="146304" cy="228600"/>
          </a:xfrm>
          <a:prstGeom prst="rightArrow">
            <a:avLst/>
          </a:prstGeom>
          <a:solidFill>
            <a:srgbClr val="C8D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88920" y="1920240"/>
            <a:ext cx="214884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20" y="1920240"/>
            <a:ext cx="2148840" cy="137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7580" y="2240280"/>
            <a:ext cx="731520" cy="73152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3300" y="233172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06324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8080"/>
                </a:solidFill>
              </a:defRPr>
            </a:pPr>
            <a:r>
              <a:t>Connected</a:t>
            </a:r>
            <a:br/>
            <a:r>
              <a:t>Data Systems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3794759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75569"/>
                </a:solidFill>
              </a:defRPr>
            </a:pPr>
            <a:r>
              <a:t>Bring scattered info together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251960"/>
            <a:ext cx="1965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Link spreadsheets, databases, and documents in one place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956048" y="2651760"/>
            <a:ext cx="146304" cy="228600"/>
          </a:xfrm>
          <a:prstGeom prst="rightArrow">
            <a:avLst/>
          </a:prstGeom>
          <a:solidFill>
            <a:srgbClr val="C8D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20640" y="1920240"/>
            <a:ext cx="214884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58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920240"/>
            <a:ext cx="2148840" cy="137160"/>
          </a:xfrm>
          <a:prstGeom prst="rect">
            <a:avLst/>
          </a:prstGeom>
          <a:solidFill>
            <a:srgbClr val="558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29300" y="2240280"/>
            <a:ext cx="731520" cy="731520"/>
          </a:xfrm>
          <a:prstGeom prst="ellipse">
            <a:avLst/>
          </a:prstGeom>
          <a:solidFill>
            <a:srgbClr val="558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75020" y="233172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06324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58B6E"/>
                </a:solidFill>
              </a:defRPr>
            </a:pPr>
            <a:r>
              <a:t>Analysis &amp;</a:t>
            </a:r>
            <a:br/>
            <a:r>
              <a:t>Insights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3794759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75569"/>
                </a:solidFill>
              </a:defRPr>
            </a:pPr>
            <a:r>
              <a:t>Find patterns and trends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251960"/>
            <a:ext cx="1965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What's working? What's slowing down? Where to focus?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287768" y="2651760"/>
            <a:ext cx="146304" cy="228600"/>
          </a:xfrm>
          <a:prstGeom prst="rightArrow">
            <a:avLst/>
          </a:prstGeom>
          <a:solidFill>
            <a:srgbClr val="C8D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52360" y="1920240"/>
            <a:ext cx="214884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70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52360" y="1920240"/>
            <a:ext cx="2148840" cy="137160"/>
          </a:xfrm>
          <a:prstGeom prst="rect">
            <a:avLst/>
          </a:prstGeom>
          <a:solidFill>
            <a:srgbClr val="9370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61020" y="2240280"/>
            <a:ext cx="731520" cy="731520"/>
          </a:xfrm>
          <a:prstGeom prst="ellipse">
            <a:avLst/>
          </a:prstGeom>
          <a:solidFill>
            <a:srgbClr val="9370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6740" y="233172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306324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9370A5"/>
                </a:solidFill>
              </a:defRPr>
            </a:pPr>
            <a:r>
              <a:t>Predictions &amp;</a:t>
            </a:r>
            <a:br/>
            <a:r>
              <a:t>Forecasts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794759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75569"/>
                </a:solidFill>
              </a:defRPr>
            </a:pPr>
            <a:r>
              <a:t>See what's likely coming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43800" y="4251960"/>
            <a:ext cx="1965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Timeline estimates, risk flags, outcome probabilities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619488" y="2651760"/>
            <a:ext cx="146304" cy="228600"/>
          </a:xfrm>
          <a:prstGeom prst="rightArrow">
            <a:avLst/>
          </a:prstGeom>
          <a:solidFill>
            <a:srgbClr val="C8D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784080" y="1920240"/>
            <a:ext cx="214884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D8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84080" y="1920240"/>
            <a:ext cx="2148840" cy="137160"/>
          </a:xfrm>
          <a:prstGeom prst="rect">
            <a:avLst/>
          </a:prstGeom>
          <a:solidFill>
            <a:srgbClr val="CD8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492740" y="2240280"/>
            <a:ext cx="731520" cy="731520"/>
          </a:xfrm>
          <a:prstGeom prst="ellipse">
            <a:avLst/>
          </a:prstGeom>
          <a:solidFill>
            <a:srgbClr val="CD8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8460" y="233172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306324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D853F"/>
                </a:solidFill>
              </a:defRPr>
            </a:pPr>
            <a:r>
              <a:t>AI-Powered</a:t>
            </a:r>
            <a:br/>
            <a:r>
              <a:t>Tools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3794759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75569"/>
                </a:solidFill>
              </a:defRPr>
            </a:pPr>
            <a:r>
              <a:t>Smart automation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4251960"/>
            <a:ext cx="1965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Document generation, Q&amp;A assistants, intelligent workflows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8080"/>
                </a:solidFill>
              </a:defRPr>
            </a:pPr>
            <a:r>
              <a:t>Let's look at some real examples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How to Work With Us</a:t>
            </a:r>
          </a:p>
        </p:txBody>
      </p:sp>
      <p:sp>
        <p:nvSpPr>
          <p:cNvPr id="5" name="Oval 4"/>
          <p:cNvSpPr/>
          <p:nvPr/>
        </p:nvSpPr>
        <p:spPr>
          <a:xfrm>
            <a:off x="1737360" y="1554480"/>
            <a:ext cx="640080" cy="6400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664208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72A45"/>
                </a:solidFill>
              </a:defRPr>
            </a:pPr>
            <a:r>
              <a:t>Start a Conversation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Tell us about a challenge you're</a:t>
            </a:r>
            <a:br/>
            <a:r>
              <a:t>facing or an idea you have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737360"/>
            <a:ext cx="274320" cy="274320"/>
          </a:xfrm>
          <a:prstGeom prst="rightArrow">
            <a:avLst/>
          </a:prstGeom>
          <a:solidFill>
            <a:srgbClr val="C8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63440" y="1554480"/>
            <a:ext cx="640080" cy="640080"/>
          </a:xfrm>
          <a:prstGeom prst="ellipse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664208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7744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72A45"/>
                </a:solidFill>
              </a:defRPr>
            </a:pPr>
            <a:r>
              <a:t>We Learn Your World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8346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We ask questions to understand</a:t>
            </a:r>
            <a:br/>
            <a:r>
              <a:t>your work and what success means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309360" y="1737360"/>
            <a:ext cx="274320" cy="274320"/>
          </a:xfrm>
          <a:prstGeom prst="rightArrow">
            <a:avLst/>
          </a:prstGeom>
          <a:solidFill>
            <a:srgbClr val="C8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0" y="1554480"/>
            <a:ext cx="640080" cy="6400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1664208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37744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72A45"/>
                </a:solidFill>
              </a:defRPr>
            </a:pPr>
            <a:r>
              <a:t>Design Together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8346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We propose approaches and you</a:t>
            </a:r>
            <a:br/>
            <a:r>
              <a:t>help us make them practical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235440" y="1737360"/>
            <a:ext cx="274320" cy="274320"/>
          </a:xfrm>
          <a:prstGeom prst="rightArrow">
            <a:avLst/>
          </a:prstGeom>
          <a:solidFill>
            <a:srgbClr val="C8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0" y="1554480"/>
            <a:ext cx="640080" cy="640080"/>
          </a:xfrm>
          <a:prstGeom prst="ellipse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61320" y="1664208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37744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72A45"/>
                </a:solidFill>
              </a:defRPr>
            </a:pPr>
            <a:r>
              <a:t>Build &amp; Refine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8346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We create, you test, we improve</a:t>
            </a:r>
            <a:br/>
            <a:r>
              <a:t>until it works for you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23360"/>
            <a:ext cx="11094415" cy="237744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72A45"/>
                </a:solidFill>
              </a:defRPr>
            </a:pPr>
            <a:r>
              <a:t>No question is too small. No idea is too ambitious.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754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400">
                <a:solidFill>
                  <a:srgbClr val="475569"/>
                </a:solidFill>
              </a:defRPr>
            </a:pPr>
            <a:r>
              <a:t>"Can you help me make sense of this spreadsheet?"</a:t>
            </a:r>
          </a:p>
          <a:p>
            <a:pPr algn="ctr">
              <a:spcAft>
                <a:spcPts val="400"/>
              </a:spcAft>
              <a:defRPr sz="1400">
                <a:solidFill>
                  <a:srgbClr val="475569"/>
                </a:solidFill>
              </a:defRPr>
            </a:pPr>
            <a:r>
              <a:t>"We need to track 500 projects and predict which permits will be delayed."</a:t>
            </a:r>
          </a:p>
          <a:p>
            <a:pPr algn="ctr">
              <a:spcAft>
                <a:spcPts val="1200"/>
              </a:spcAft>
              <a:defRPr sz="1400">
                <a:solidFill>
                  <a:srgbClr val="475569"/>
                </a:solidFill>
              </a:defRPr>
            </a:pPr>
            <a:r>
              <a:t>"Is there an AI tool that could help with this?"</a:t>
            </a:r>
          </a:p>
          <a:p>
            <a:pPr algn="ctr">
              <a:defRPr sz="1600" b="1">
                <a:solidFill>
                  <a:srgbClr val="008080"/>
                </a:solidFill>
              </a:defRPr>
            </a:pPr>
            <a:r>
              <a:t>We're here to help. The best solutions often start with a simple conversation.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