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7315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66360"/>
            <a:ext cx="7315200" cy="36576"/>
          </a:xfrm>
          <a:prstGeom prst="rect">
            <a:avLst/>
          </a:prstGeom>
          <a:solidFill>
            <a:srgbClr val="558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Enterprise Analytics and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B0C4DE"/>
                </a:solidFill>
              </a:defRPr>
            </a:pPr>
            <a:r>
              <a:t>Partnering with teams to turn data into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i="1">
                <a:solidFill>
                  <a:srgbClr val="8CA0B4"/>
                </a:solidFill>
              </a:defRPr>
            </a:pPr>
            <a:r>
              <a:t>From land acquisition through permitting — we help you see the full picture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Who We 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94415" cy="128016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75569"/>
                </a:solidFill>
              </a:defRPr>
            </a:pPr>
            <a:r>
              <a:t>You know how Netflix figures out which shows you'll like, or how your phone identifies a song in seconds? We build those kinds of systems — but for your business problems.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356616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3566160" cy="1097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080"/>
                </a:solidFill>
              </a:defRPr>
            </a:pPr>
            <a:r>
              <a:t>We Build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From simple dashboards to smart systems that learn and improve over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108960"/>
            <a:ext cx="356616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3108960"/>
            <a:ext cx="3566160" cy="10972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33832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682B4"/>
                </a:solidFill>
              </a:defRPr>
            </a:pPr>
            <a:r>
              <a:t>We Analyze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8862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Finding the patterns and trends hidden in your spreadsheets and databases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108960"/>
            <a:ext cx="356616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8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3108960"/>
            <a:ext cx="3566160" cy="109728"/>
          </a:xfrm>
          <a:prstGeom prst="rect">
            <a:avLst/>
          </a:prstGeom>
          <a:solidFill>
            <a:srgbClr val="558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3832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58B6E"/>
                </a:solidFill>
              </a:defRPr>
            </a:pPr>
            <a:r>
              <a:t>We Solve Problems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8862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Working alongside you to tackle challenges with the right technology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035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>
                <a:solidFill>
                  <a:srgbClr val="64748B"/>
                </a:solidFill>
              </a:defRPr>
            </a:pPr>
            <a:r>
              <a:t>Computer science + data science backgrounds → Real-world solutions for your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Enterprise Analytics and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How We Work With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A shared resource that amplifies your capabilities — we don't replace your expertise, we enhance it</a:t>
            </a:r>
          </a:p>
        </p:txBody>
      </p:sp>
      <p:sp>
        <p:nvSpPr>
          <p:cNvPr id="6" name="Oval 5"/>
          <p:cNvSpPr/>
          <p:nvPr/>
        </p:nvSpPr>
        <p:spPr>
          <a:xfrm>
            <a:off x="5272430" y="3108960"/>
            <a:ext cx="1645920" cy="1645920"/>
          </a:xfrm>
          <a:prstGeom prst="ellipse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9590" y="3611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Enterprise</a:t>
            </a:r>
            <a:br/>
            <a:r>
              <a:t>Analytics &amp; AI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390.0" y="1828800.0"/>
            <a:ext cx="0.0" cy="2103120.0"/>
          </a:xfrm>
          <a:prstGeom prst="line">
            <a:avLst/>
          </a:prstGeom>
          <a:ln w="25400">
            <a:solidFill>
              <a:srgbClr val="C8D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546750" y="1280160"/>
            <a:ext cx="1097280" cy="109728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38190" y="1600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Land</a:t>
            </a:r>
            <a:br/>
            <a:r>
              <a:t>Acquisition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6095390" y="2880360.0"/>
            <a:ext cx="1821355.347207129" cy="1051560.0"/>
          </a:xfrm>
          <a:prstGeom prst="line">
            <a:avLst/>
          </a:prstGeom>
          <a:ln w="25400">
            <a:solidFill>
              <a:srgbClr val="C8D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368105" y="2331720"/>
            <a:ext cx="1097280" cy="109728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9545" y="2651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Permitting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6095390" y="3931920"/>
            <a:ext cx="1821355.347207129" cy="1051560.0"/>
          </a:xfrm>
          <a:prstGeom prst="line">
            <a:avLst/>
          </a:prstGeom>
          <a:ln w="25400">
            <a:solidFill>
              <a:srgbClr val="C8D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368105" y="4434840"/>
            <a:ext cx="1097280" cy="109728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9545" y="4754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Engineering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095390.0" y="3931920"/>
            <a:ext cx="0.0" cy="2103120.0"/>
          </a:xfrm>
          <a:prstGeom prst="line">
            <a:avLst/>
          </a:prstGeom>
          <a:ln w="25400">
            <a:solidFill>
              <a:srgbClr val="C8D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546750" y="5486400"/>
            <a:ext cx="1097280" cy="109728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38190" y="5806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4274034.652792871" y="3931920"/>
            <a:ext cx="1821355.347207129" cy="1051560.0"/>
          </a:xfrm>
          <a:prstGeom prst="line">
            <a:avLst/>
          </a:prstGeom>
          <a:ln w="25400">
            <a:solidFill>
              <a:srgbClr val="C8D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725394" y="4434840"/>
            <a:ext cx="1097280" cy="109728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16834" y="4754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Legal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274034.652792871" y="2880360.0"/>
            <a:ext cx="1821355.347207129" cy="1051560.0"/>
          </a:xfrm>
          <a:prstGeom prst="line">
            <a:avLst/>
          </a:prstGeom>
          <a:ln w="25400">
            <a:solidFill>
              <a:srgbClr val="C8D7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725394" y="2331720"/>
            <a:ext cx="1097280" cy="109728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16834" y="2651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Operations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103120"/>
            <a:ext cx="3017520" cy="20116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558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2860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✓ You remain the expert in your domain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28803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✓ We add technology capabilities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✓ Solutions built for your actual needs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16975" y="2103120"/>
            <a:ext cx="3017520" cy="201168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99855" y="22860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✓ One team serves the whole company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99855" y="28803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✓ Best practices shared across groups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9855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✓ Tools that work across departments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852160"/>
            <a:ext cx="11277295" cy="822960"/>
          </a:xfrm>
          <a:prstGeom prst="roundRect">
            <a:avLst/>
          </a:prstGeom>
          <a:solidFill>
            <a:srgbClr val="FFFAF0"/>
          </a:solidFill>
          <a:ln w="19050">
            <a:solidFill>
              <a:srgbClr val="CD8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46432"/>
                </a:solidFill>
              </a:defRPr>
            </a:pPr>
            <a:r>
              <a:t>What we need from you: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5943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A conversation or two to help us understand your work. That's it. We handle the technical building — you stay focused on your job.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Enterprise Analytics and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We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When you work with us, here's what you can expect to 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274320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828800"/>
            <a:ext cx="2743200" cy="10972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17320" y="2103120"/>
            <a:ext cx="731520" cy="73152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19456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👁️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260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4682B4"/>
                </a:solidFill>
              </a:defRPr>
            </a:pPr>
            <a:r>
              <a:t>Visibility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375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748B"/>
                </a:solidFill>
              </a:defRPr>
            </a:pPr>
            <a:r>
              <a:t>See your data clearly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Dashboards showing status at a glance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Maps and visuals that update automatically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One place to see across teams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82112" y="2331720"/>
            <a:ext cx="128016" cy="201168"/>
          </a:xfrm>
          <a:prstGeom prst="rightArrow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37560" y="1828800"/>
            <a:ext cx="274320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828800"/>
            <a:ext cx="2743200" cy="1097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43400" y="2103120"/>
            <a:ext cx="731520" cy="73152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19456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9260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8080"/>
                </a:solidFill>
              </a:defRPr>
            </a:pPr>
            <a:r>
              <a:t>Understanding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3375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748B"/>
                </a:solidFill>
              </a:defRPr>
            </a:pPr>
            <a:r>
              <a:t>Know what's really happening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74904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Spot trends you'd otherwise miss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Find root causes when things slow down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Analysis that answers your questions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108192" y="2331720"/>
            <a:ext cx="128016" cy="201168"/>
          </a:xfrm>
          <a:prstGeom prst="rightArrow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1828800"/>
            <a:ext cx="274320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8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828800"/>
            <a:ext cx="2743200" cy="109728"/>
          </a:xfrm>
          <a:prstGeom prst="rect">
            <a:avLst/>
          </a:prstGeom>
          <a:solidFill>
            <a:srgbClr val="558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69480" y="2103120"/>
            <a:ext cx="731520" cy="731520"/>
          </a:xfrm>
          <a:prstGeom prst="ellipse">
            <a:avLst/>
          </a:prstGeom>
          <a:solidFill>
            <a:srgbClr val="558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219456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9260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58B6E"/>
                </a:solidFill>
              </a:defRPr>
            </a:pPr>
            <a:r>
              <a:t>Foresight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3375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748B"/>
                </a:solidFill>
              </a:defRPr>
            </a:pPr>
            <a:r>
              <a:t>See what's coming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74904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Forecast timelines and outcomes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Flag risks before they become problems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Model scenarios to plan ahead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034272" y="2331720"/>
            <a:ext cx="128016" cy="201168"/>
          </a:xfrm>
          <a:prstGeom prst="rightArrow">
            <a:avLst/>
          </a:prstGeom>
          <a:solidFill>
            <a:srgbClr val="C8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89720" y="1828800"/>
            <a:ext cx="274320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370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89720" y="1828800"/>
            <a:ext cx="2743200" cy="109728"/>
          </a:xfrm>
          <a:prstGeom prst="rect">
            <a:avLst/>
          </a:prstGeom>
          <a:solidFill>
            <a:srgbClr val="937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95560" y="2103120"/>
            <a:ext cx="731520" cy="731520"/>
          </a:xfrm>
          <a:prstGeom prst="ellipse">
            <a:avLst/>
          </a:prstGeom>
          <a:solidFill>
            <a:srgbClr val="937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0" y="219456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29260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9370A5"/>
                </a:solidFill>
              </a:defRPr>
            </a:pPr>
            <a:r>
              <a:t>Intelligent Tools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33375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748B"/>
                </a:solidFill>
              </a:defRPr>
            </a:pPr>
            <a:r>
              <a:t>AI that works for you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374904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Generate reports and documents automatically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Ask questions, get instant answers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• Smart alerts when you need to 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4748B"/>
                </a:solidFill>
              </a:defRPr>
            </a:pPr>
            <a:r>
              <a:t>Each solution is tailored to your specific needs — let's look at some examples 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Enterprise Analytics and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Beyond Project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How we support the broader organization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36576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8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828800"/>
            <a:ext cx="109728" cy="1737360"/>
          </a:xfrm>
          <a:prstGeom prst="rect">
            <a:avLst/>
          </a:prstGeom>
          <a:solidFill>
            <a:srgbClr val="CD8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D853F"/>
                </a:solidFill>
              </a:defRPr>
            </a:pPr>
            <a:r>
              <a:t>🧭  AI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Navigate AI tools confidently — we help you use ChatGPT and similar tools safely, and evaluate which products are worth buying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828800"/>
            <a:ext cx="36576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828800"/>
            <a:ext cx="109728" cy="173736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9659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682B4"/>
                </a:solidFill>
              </a:defRPr>
            </a:pPr>
            <a:r>
              <a:t>🎓  Training &amp;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3774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Level up your team's data capabilities through workshops, office hours, and hands-on learning opportunities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28800"/>
            <a:ext cx="36576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828800"/>
            <a:ext cx="109728" cy="17373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9659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080"/>
                </a:solidFill>
              </a:defRPr>
            </a:pPr>
            <a:r>
              <a:t>🔬  External Partnerships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774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Connections to universities, national labs, and industry partners to bring cutting-edge solutions to our challenges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20" y="3749039"/>
            <a:ext cx="36576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58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31720" y="3749039"/>
            <a:ext cx="109728" cy="1737360"/>
          </a:xfrm>
          <a:prstGeom prst="rect">
            <a:avLst/>
          </a:prstGeom>
          <a:solidFill>
            <a:srgbClr val="558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0" y="3886199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58B6E"/>
                </a:solidFill>
              </a:defRPr>
            </a:pPr>
            <a:r>
              <a:t>🤝  Cross-Company Collaboration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297679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Working alongside data professionals in every department to share best practices and build tools everyone can use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749039"/>
            <a:ext cx="36576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70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749039"/>
            <a:ext cx="109728" cy="1737360"/>
          </a:xfrm>
          <a:prstGeom prst="rect">
            <a:avLst/>
          </a:prstGeom>
          <a:solidFill>
            <a:srgbClr val="937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886199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370A5"/>
                </a:solidFill>
              </a:defRPr>
            </a:pPr>
            <a:r>
              <a:t>👥  Communities of Practice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97679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User groups and working sessions where people across the company can learn from each other and solve common challenges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4748B"/>
                </a:solidFill>
              </a:defRPr>
            </a:pPr>
            <a:r>
              <a:t>These services are available to everyone — no project required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Enterprise Analytics and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7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How to Work With Us</a:t>
            </a:r>
          </a:p>
        </p:txBody>
      </p:sp>
      <p:sp>
        <p:nvSpPr>
          <p:cNvPr id="5" name="Oval 4"/>
          <p:cNvSpPr/>
          <p:nvPr/>
        </p:nvSpPr>
        <p:spPr>
          <a:xfrm>
            <a:off x="1737360" y="1554480"/>
            <a:ext cx="640080" cy="64008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1664208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72A45"/>
                </a:solidFill>
              </a:defRPr>
            </a:pPr>
            <a:r>
              <a:t>Start a Conversation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Tell us about a challenge you're</a:t>
            </a:r>
            <a:br/>
            <a:r>
              <a:t>facing or an idea you have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83280" y="1737360"/>
            <a:ext cx="274320" cy="274320"/>
          </a:xfrm>
          <a:prstGeom prst="rightArrow">
            <a:avLst/>
          </a:prstGeom>
          <a:solidFill>
            <a:srgbClr val="C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63440" y="1554480"/>
            <a:ext cx="640080" cy="64008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664208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37744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72A45"/>
                </a:solidFill>
              </a:defRPr>
            </a:pPr>
            <a:r>
              <a:t>We Learn Your World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8346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We ask questions to understand</a:t>
            </a:r>
            <a:br/>
            <a:r>
              <a:t>your work and what success means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309360" y="1737360"/>
            <a:ext cx="274320" cy="274320"/>
          </a:xfrm>
          <a:prstGeom prst="rightArrow">
            <a:avLst/>
          </a:prstGeom>
          <a:solidFill>
            <a:srgbClr val="C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89520" y="1554480"/>
            <a:ext cx="640080" cy="64008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1664208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37744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72A45"/>
                </a:solidFill>
              </a:defRPr>
            </a:pPr>
            <a:r>
              <a:t>Design Together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8346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We propose approaches and you</a:t>
            </a:r>
            <a:br/>
            <a:r>
              <a:t>help us make them practical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235440" y="1737360"/>
            <a:ext cx="274320" cy="274320"/>
          </a:xfrm>
          <a:prstGeom prst="rightArrow">
            <a:avLst/>
          </a:prstGeom>
          <a:solidFill>
            <a:srgbClr val="C8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15600" y="1554480"/>
            <a:ext cx="640080" cy="640080"/>
          </a:xfrm>
          <a:prstGeom prst="ellipse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61320" y="1664208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37744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72A45"/>
                </a:solidFill>
              </a:defRPr>
            </a:pPr>
            <a:r>
              <a:t>Build &amp; Refine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8346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We create, you test, we improve</a:t>
            </a:r>
            <a:br/>
            <a:r>
              <a:t>until it works for you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023360"/>
            <a:ext cx="11094415" cy="237744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062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72A45"/>
                </a:solidFill>
              </a:defRPr>
            </a:pPr>
            <a:r>
              <a:t>No question is too small. No idea is too ambitious.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>
                <a:solidFill>
                  <a:srgbClr val="475569"/>
                </a:solidFill>
              </a:defRPr>
            </a:pPr>
            <a:r>
              <a:t>"Can you help me make sense of this spreadsheet?"</a:t>
            </a:r>
          </a:p>
          <a:p>
            <a:pPr algn="ctr">
              <a:spcAft>
                <a:spcPts val="400"/>
              </a:spcAft>
              <a:defRPr sz="1400">
                <a:solidFill>
                  <a:srgbClr val="475569"/>
                </a:solidFill>
              </a:defRPr>
            </a:pPr>
            <a:r>
              <a:t>"We need to track 500 projects and predict which permits will be delayed."</a:t>
            </a:r>
          </a:p>
          <a:p>
            <a:pPr algn="ctr">
              <a:spcAft>
                <a:spcPts val="1200"/>
              </a:spcAft>
              <a:defRPr sz="1400">
                <a:solidFill>
                  <a:srgbClr val="475569"/>
                </a:solidFill>
              </a:defRPr>
            </a:pPr>
            <a:r>
              <a:t>"Is there an AI tool that could help with this?"</a:t>
            </a:r>
          </a:p>
          <a:p>
            <a:pPr algn="ctr">
              <a:defRPr sz="1600" b="1">
                <a:solidFill>
                  <a:srgbClr val="008080"/>
                </a:solidFill>
              </a:defRPr>
            </a:pPr>
            <a:r>
              <a:t>We're here to help. The best solutions often start with a simple conversation.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</a:defRPr>
            </a:pPr>
            <a:r>
              <a:t>Enterprise Analytics and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