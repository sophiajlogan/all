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7315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66360"/>
            <a:ext cx="7315200" cy="36576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Enterprise Analytics and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B0C4DE"/>
                </a:solidFill>
              </a:defRPr>
            </a:pPr>
            <a:r>
              <a:t>Partnering with teams to turn data into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solidFill>
                  <a:srgbClr val="8CA0B4"/>
                </a:solidFill>
              </a:defRPr>
            </a:pPr>
            <a:r>
              <a:t>From land acquisition through permitting — we help you see the full picture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Who We 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94415" cy="1645920"/>
          </a:xfrm>
          <a:prstGeom prst="roundRect">
            <a:avLst/>
          </a:prstGeom>
          <a:solidFill>
            <a:srgbClr val="F0F8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72A45"/>
                </a:solidFill>
              </a:defRPr>
            </a:pPr>
            <a:r>
              <a:t>Think of us as technology specialists who speak your language.</a:t>
            </a:r>
          </a:p>
          <a:p>
            <a:pPr>
              <a:defRPr sz="1700">
                <a:solidFill>
                  <a:srgbClr val="475569"/>
                </a:solidFill>
              </a:defRPr>
            </a:pPr>
            <a:r>
              <a:t>You know how Netflix somehow knows which shows you'll like? Or how your phone can identify a song in seconds? We're the people who build those kinds of systems — but for business problems. We create tools that find patterns in your data, predict what's coming next, and automate the tedious stuff so you can focus on what matters.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3566160" cy="1097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49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8080"/>
                </a:solidFill>
              </a:defRPr>
            </a:pPr>
            <a:r>
              <a:t>We Build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5196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From simple dashboards to smart systems that learn and improve over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47472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3474720"/>
            <a:ext cx="3566160" cy="10972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749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We Analyze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25196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Finding the patterns and trends hidden in your spreadsheets and databases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47472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474720"/>
            <a:ext cx="3566160" cy="109728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749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558B6E"/>
                </a:solidFill>
              </a:defRPr>
            </a:pPr>
            <a:r>
              <a:t>We Solve Problems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25196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</a:defRPr>
            </a:pPr>
            <a:r>
              <a:t>Working alongside you to tackle challenges with the right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i="1">
                <a:solidFill>
                  <a:srgbClr val="64748B"/>
                </a:solidFill>
              </a:defRPr>
            </a:pPr>
            <a:r>
              <a:t>Computer science + data science backgrounds → Real-world solutions for your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We Work With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A shared resource that amplifies your capabilities — we don't replace your expertise, we enhance it</a:t>
            </a:r>
          </a:p>
        </p:txBody>
      </p:sp>
      <p:sp>
        <p:nvSpPr>
          <p:cNvPr id="6" name="Oval 5"/>
          <p:cNvSpPr/>
          <p:nvPr/>
        </p:nvSpPr>
        <p:spPr>
          <a:xfrm>
            <a:off x="5272430" y="3108960"/>
            <a:ext cx="1645920" cy="1645920"/>
          </a:xfrm>
          <a:prstGeom prst="ellipse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9590" y="361188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Enterprise</a:t>
            </a:r>
            <a:br/>
            <a:r>
              <a:t>Analytics &amp; AI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390.0" y="1828800.0"/>
            <a:ext cx="0.0" cy="210312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546750" y="128016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190" y="16002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Land</a:t>
            </a:r>
            <a:br/>
            <a:r>
              <a:t>Acquisition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6095390" y="2880360.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368105" y="233172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9545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Permitting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6095390" y="393192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368105" y="443484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9545" y="4754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95390.0" y="3931920"/>
            <a:ext cx="0.0" cy="210312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546750" y="548640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38190" y="5806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Finance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274034.652792871" y="393192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725394" y="443484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6834" y="4754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Legal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74034.652792871" y="2880360.0"/>
            <a:ext cx="1821355.347207129" cy="1051560.0"/>
          </a:xfrm>
          <a:prstGeom prst="line">
            <a:avLst/>
          </a:prstGeom>
          <a:ln w="25400">
            <a:solidFill>
              <a:srgbClr val="C8D7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725394" y="2331720"/>
            <a:ext cx="1097280" cy="10972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6834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103120"/>
            <a:ext cx="3017520" cy="2011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286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You remain the expert in your 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880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We add technology capabilities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474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Solutions built for your actual needs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16975" y="2103120"/>
            <a:ext cx="3017520" cy="20116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9855" y="2286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One team serves the whole company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9855" y="2880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Best practices shared across groups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9855" y="3474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✓ Tools that work across departments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We Offer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37160" cy="246888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682B4"/>
                </a:solidFill>
              </a:defRPr>
            </a:pPr>
            <a:r>
              <a:t>📊  Data &amp; Dashboards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See what's happening across your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Connect scattered data into one clear view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Build visual dashboards that update automatically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Perform deep-dive analysis to spot trends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Support teams that don't have dedicated data staff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3990" y="141732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3990" y="1417320"/>
            <a:ext cx="137160" cy="24688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030" y="155448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80"/>
                </a:solidFill>
              </a:defRPr>
            </a:pPr>
            <a:r>
              <a:t>🤖  Custom AI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030" y="196596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Smart tools built for your specific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030" y="237744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Predict outcomes (like permit timelines)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Automate repetitive data tasks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Build assistants that answer questions from your data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Create systems that learn and improve over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1480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137160" cy="2468880"/>
          </a:xfrm>
          <a:prstGeom prst="rect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58B6E"/>
                </a:solidFill>
              </a:defRPr>
            </a:pPr>
            <a:r>
              <a:t>🔍  AI Tools &amp; Guidance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6344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Navigate the AI landscape safely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Help you use ChatGPT and similar tools wisely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Evaluate which AI products are worth buying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Connect with universities and research partners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Ensure AI is used responsibly and securely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3990" y="4114800"/>
            <a:ext cx="554675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7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3990" y="4114800"/>
            <a:ext cx="137160" cy="2468880"/>
          </a:xfrm>
          <a:prstGeom prst="rect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4030" y="4251960"/>
            <a:ext cx="5089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9370A5"/>
                </a:solidFill>
              </a:defRPr>
            </a:pPr>
            <a:r>
              <a:t>🤝  Company-Wide Collaboration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4030" y="4663440"/>
            <a:ext cx="508955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Connecting data expertise across teams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030" y="5074920"/>
            <a:ext cx="508955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Work alongside data professionals in every department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Share best practices so everyone benefits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Organize working groups to solve common challenges</a:t>
            </a:r>
          </a:p>
          <a:p>
            <a:pPr>
              <a:spcAft>
                <a:spcPts val="300"/>
              </a:spcAft>
              <a:defRPr sz="1200">
                <a:solidFill>
                  <a:srgbClr val="475569"/>
                </a:solidFill>
              </a:defRPr>
            </a:pPr>
            <a:r>
              <a:t>• Build tools that multiple teams can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Examples: What This Looks Like in Practice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65760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5448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72A45"/>
                </a:solidFill>
              </a:defRPr>
            </a:pPr>
            <a:r>
              <a:t>Project Pipeline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One screen showing every project's status from first landowner contact through permit approval — always up to 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5760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4840" y="1508760"/>
            <a:ext cx="457200" cy="45720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5544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72A45"/>
                </a:solidFill>
              </a:defRPr>
            </a:pPr>
            <a:r>
              <a:t>Permit Timeline Predictor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116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 tool that estimates realistic approval dates based on county, project size, and historical patterns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371600"/>
            <a:ext cx="365760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558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600" y="1508760"/>
            <a:ext cx="457200" cy="457200"/>
          </a:xfrm>
          <a:prstGeom prst="ellipse">
            <a:avLst/>
          </a:prstGeom>
          <a:solidFill>
            <a:srgbClr val="558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5544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55448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72A45"/>
                </a:solidFill>
              </a:defRPr>
            </a:pPr>
            <a:r>
              <a:t>Automatic Report Generator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116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Feed in your project data, get a formatted status report or permit application draft — ready to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108960"/>
            <a:ext cx="365760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37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9370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918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🗺️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29184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72A45"/>
                </a:solidFill>
              </a:defRPr>
            </a:pPr>
            <a:r>
              <a:t>Interactive Project Maps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749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Visual maps showing land status, permitting progress, and key metrics you can explore and filter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108960"/>
            <a:ext cx="365760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D8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34840" y="3246120"/>
            <a:ext cx="457200" cy="457200"/>
          </a:xfrm>
          <a:prstGeom prst="ellipse">
            <a:avLst/>
          </a:prstGeom>
          <a:solidFill>
            <a:srgbClr val="CD8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32918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9184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72A45"/>
                </a:solidFill>
              </a:defRPr>
            </a:pPr>
            <a:r>
              <a:t>Project Data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749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Ask questions in plain English like "Which projects in Texas are waiting on permits?" and get instant answers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108960"/>
            <a:ext cx="365760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29600" y="3246120"/>
            <a:ext cx="457200" cy="457200"/>
          </a:xfrm>
          <a:prstGeom prst="ellipse">
            <a:avLst/>
          </a:prstGeom>
          <a:solidFill>
            <a:srgbClr val="77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32918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29184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72A45"/>
                </a:solidFill>
              </a:defRPr>
            </a:pPr>
            <a:r>
              <a:t>Connected Data Systems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749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Link your spreadsheets, databases, and documents so information flows automatically — no more manual updates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64748B"/>
                </a:solidFill>
              </a:defRPr>
            </a:pPr>
            <a:r>
              <a:t>These are just examples — every solution is tailored to your specific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to Work With Us</a:t>
            </a:r>
          </a:p>
        </p:txBody>
      </p:sp>
      <p:sp>
        <p:nvSpPr>
          <p:cNvPr id="5" name="Oval 4"/>
          <p:cNvSpPr/>
          <p:nvPr/>
        </p:nvSpPr>
        <p:spPr>
          <a:xfrm>
            <a:off x="1737360" y="1554480"/>
            <a:ext cx="640080" cy="6400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Start a 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Tell us about a challenge you're</a:t>
            </a:r>
            <a:br/>
            <a:r>
              <a:t>facing or an idea you have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1554480"/>
            <a:ext cx="640080" cy="64008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We Learn Your World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ask questions to understand</a:t>
            </a:r>
            <a:br/>
            <a:r>
              <a:t>your work and what success means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30936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0" y="1554480"/>
            <a:ext cx="640080" cy="64008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Design 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propose approaches and you</a:t>
            </a:r>
            <a:br/>
            <a:r>
              <a:t>help us make them practical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35440" y="1737360"/>
            <a:ext cx="274320" cy="274320"/>
          </a:xfrm>
          <a:prstGeom prst="rightArrow">
            <a:avLst/>
          </a:prstGeom>
          <a:solidFill>
            <a:srgbClr val="C8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0" y="1554480"/>
            <a:ext cx="640080" cy="640080"/>
          </a:xfrm>
          <a:prstGeom prst="ellipse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1664208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72A45"/>
                </a:solidFill>
              </a:defRPr>
            </a:pPr>
            <a:r>
              <a:t>Build &amp; Refine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8346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We create, you test, we improve</a:t>
            </a:r>
            <a:br/>
            <a:r>
              <a:t>until it works for you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23360"/>
            <a:ext cx="11094415" cy="237744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72A45"/>
                </a:solidFill>
              </a:defRPr>
            </a:pPr>
            <a:r>
              <a:t>No question is too small. No idea is too ambitious.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>
                <a:solidFill>
                  <a:srgbClr val="475569"/>
                </a:solidFill>
              </a:defRPr>
            </a:pPr>
            <a:r>
              <a:t>"Can you help me make sense of this spreadsheet?"</a:t>
            </a:r>
          </a:p>
          <a:p>
            <a:pPr algn="ctr">
              <a:spcAft>
                <a:spcPts val="400"/>
              </a:spcAft>
              <a:defRPr sz="1400">
                <a:solidFill>
                  <a:srgbClr val="475569"/>
                </a:solidFill>
              </a:defRPr>
            </a:pPr>
            <a:r>
              <a:t>"We need to track 500 projects and predict which permits will be delayed."</a:t>
            </a:r>
          </a:p>
          <a:p>
            <a:pPr algn="ctr"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"Is there an AI tool that could help with this?"</a:t>
            </a:r>
          </a:p>
          <a:p>
            <a:pPr algn="ctr">
              <a:defRPr sz="1600" b="1">
                <a:solidFill>
                  <a:srgbClr val="008080"/>
                </a:solidFill>
              </a:defRPr>
            </a:pPr>
            <a:r>
              <a:t>We're here to help. The best solutions often start with a simple conversation.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Enterprise Analytics and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